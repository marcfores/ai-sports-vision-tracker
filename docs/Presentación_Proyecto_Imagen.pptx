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PORTADA — Sergio (≈15s):
Buenos días. Somos Sergio, Carlos C., Marc y Carlos M., y os vamos a presentar nuestro trabajo de visión artificial: un sistema que coge un vídeo de fútbol, detecta a los jugadores, los separa por equipos, los sigue durante todo el partido y genera mapas de calor. En 5 minutos os contamos qué hace, cómo, y qué hemos aprendido.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 + OBJETIVOS — Sergio (≈60s):
El deporte y la visión artificial cada vez van más de la mano: heatmaps, velocidades, trayectorias... Quisimos construir una versión sencilla de eso. 
Nos marcamos seis objetivos: (1) detectar a los jugadores en cada frame, (2) separarlos automáticamente por equipos según el color de la camiseta, (3) mantener la identidad de cada uno con tracking, (4) intentar seguir también el balón, y (5)(6) generar dos mapas de calor, uno 2D cenital y otro 3D como superficie. Todos guiaron el desarrollo.
[Paso al compañero] Carlos te cuenta cómo lo hemos montado.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STACK — Carlos Clariana (≈25s):
Todo el proyecto está hecho en Python con librerías open source. El cerebro es YOLOv8, que detecta personas y balón en un solo paso. OpenCV se encarga del vídeo: leerlo, dibujar las cajas y guardarlo. Supervision nos ahorró muchísimo código boilerplate y trae integrado ByteTrack, el algoritmo que mantiene el ID de cada jugador. Para los heatmaps usamos NumPy y Matplotlib. Y todo corre acelerado por GPU en una RTX 3060.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PIPELINE — Carlos Clariana (≈55s):
El sistema es una cadena de 5 etapas que se repite por cada fotograma:
1) Leemos el vídeo con OpenCV.
2) YOLOv8 nos devuelve cajas con clase y confianza. Filtramos sólo personas y balón, y descartamos las detecciones poco fiables.
3) Recortamos la zona de la camiseta, pasamos el color a espacio HSV y, con K-Means de k=2 en los primeros frames, aprendemos los dos colores. A partir de ahí cada jugador se asigna al equipo cuyo color esté más cerca.
4) ByteTrack añade el ID estable a cada jugador.
5) Acumulamos la posición central de cada jugador en una matriz para el heatmap, y escribimos el frame anotado al MP4 de salida.
La clave del tracking es esa: predice y empareja, así no se pierde con tapados.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COMPARACIÓN — Marc (≈35s):
Antes de elegir miramos otras técnicas. Haar Cascades es muy rápida pero da muchísimos falsos positivos: no es viable. Faster R-CNN es la más precisa pero procesa 5–15 FPS, y un partido va a 25–30: no llega a tiempo real. SSD MobileNet es ligera pero se queda corta detectando objetos pequeños como el balón.
YOLOv8 nos da el mejor compromiso: 47 FPS reales en nuestra GPU, buena precisión, y se integra de forma muy limpia con Supervision y ByteTrack.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RESULTADOS — Marc (≈55s):
Lo probamos sobre 5 minutos de partido a 1080p y 25 FPS, en una RTX 3060.
Con GPU corre a 47 FPS: casi 5 veces más rápido que el propio vídeo. En CPU baja a 10 FPS, así que la GPU es prácticamente obligatoria.
Detectamos jugadores con un 90% aproximado de acierto. La separación por equipos funciona bien en más del 85% de los casos cuando las camisetas son distintas.
Lo que falla más es el balón: pequeño y rápido, sólo lo cogemos en torno al 70% del tiempo. A cambio, los heatmaps son la parte de la que estamos más contentos: se ve clarísimo dónde ha dominado cada equipo.
[Paso al compañero] Carlos os cuenta qué problemas nos encontramos por el camino.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PROBLEMAS — Carlos Molina (≈45s):
Cuatro cosas se rompieron por el camino:
1) En los cruces de jugadores, ByteTrack a veces intercambia los IDs. Es un problema clásico del tracking multiobjeto. Lo paliamos tocando umbrales, pero no desaparece del todo.
2) El balón se nos escapaba mucho: pequeño, rápido y oculto. Bajamos el umbral de confianza para esa clase concreta.
3) YOLO detectaba al público de las gradas como jugadores. Solución directa: una región de interés limitada al campo, todo lo de fuera se descarta.
4) Árbitros de negro y porteros con camisetas distintas rompían el K-Means de equipos. Filtramos el negro del clustering y los tratamos aparte como outliers.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MEJORAS + CONCLUSIÓN — Carlos Molina (≈45s):
Hacia dónde podría crecer: reentrenar YOLO con SoccerNet mejoraría sobre todo el balón; cambiar a DeepSORT o BoTSORT permitiría re-identificar jugadores tras largas ausencias; proyectando al campo real podríamos sacar formación, distancia recorrida y tiempo de posesión; una interfaz gráfica y soporte multi-cámara harían el sistema mucho más completo.
Conclusión: el sistema hace lo que nos propusimos. No es perfecto (lo del balón y los cruces lo decimos sin maquillar), pero como proyecto de asignatura nos ha enseñado tracking multiobjeto, clustering por color y deep learning aplicado de verdad, no de teoría.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 todos:
Gracias. Si tenéis preguntas estamos encantados de responderlas.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1.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slideLayout" Target="../slideLayouts/slideLayout1.xml"/><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548640" y="914400"/>
            <a:ext cx="73152" cy="5029200"/>
          </a:xfrm>
          <a:prstGeom prst="rect">
            <a:avLst/>
          </a:prstGeom>
          <a:solidFill>
            <a:srgbClr val="00D4FF"/>
          </a:solidFill>
          <a:ln/>
        </p:spPr>
      </p:sp>
      <p:sp>
        <p:nvSpPr>
          <p:cNvPr id="3" name="Text 1"/>
          <p:cNvSpPr/>
          <p:nvPr/>
        </p:nvSpPr>
        <p:spPr>
          <a:xfrm>
            <a:off x="868680" y="914400"/>
            <a:ext cx="10058400" cy="365760"/>
          </a:xfrm>
          <a:prstGeom prst="rect">
            <a:avLst/>
          </a:prstGeom>
          <a:noFill/>
          <a:ln/>
        </p:spPr>
        <p:txBody>
          <a:bodyPr wrap="square" lIns="0" tIns="0" rIns="0" bIns="0" rtlCol="0" anchor="ctr"/>
          <a:lstStyle/>
          <a:p>
            <a:pPr indent="0" marL="0">
              <a:buNone/>
            </a:pPr>
            <a:r>
              <a:rPr lang="en-US" sz="1200" b="1" spc="600" kern="0" dirty="0">
                <a:solidFill>
                  <a:srgbClr val="00FF87"/>
                </a:solidFill>
                <a:latin typeface="Calibri" pitchFamily="34" charset="0"/>
                <a:ea typeface="Calibri" pitchFamily="34" charset="-122"/>
                <a:cs typeface="Calibri" pitchFamily="34" charset="-120"/>
              </a:rPr>
              <a:t>TRABAJO DE FIN DE ASIGNATURA  ·  IMAGEN Y VÍDEO DIGITAL</a:t>
            </a:r>
            <a:endParaRPr lang="en-US" sz="1200" dirty="0"/>
          </a:p>
        </p:txBody>
      </p:sp>
      <p:sp>
        <p:nvSpPr>
          <p:cNvPr id="4" name="Text 2"/>
          <p:cNvSpPr/>
          <p:nvPr/>
        </p:nvSpPr>
        <p:spPr>
          <a:xfrm>
            <a:off x="868680" y="1417320"/>
            <a:ext cx="10515600" cy="1097280"/>
          </a:xfrm>
          <a:prstGeom prst="rect">
            <a:avLst/>
          </a:prstGeom>
          <a:noFill/>
          <a:ln/>
        </p:spPr>
        <p:txBody>
          <a:bodyPr wrap="square" lIns="0" tIns="0" rIns="0" bIns="0" rtlCol="0" anchor="ctr"/>
          <a:lstStyle/>
          <a:p>
            <a:pPr indent="0" marL="0">
              <a:buNone/>
            </a:pPr>
            <a:r>
              <a:rPr lang="en-US" sz="6000" b="1" dirty="0">
                <a:solidFill>
                  <a:srgbClr val="F1F5F9"/>
                </a:solidFill>
                <a:latin typeface="Arial Black" pitchFamily="34" charset="0"/>
                <a:ea typeface="Arial Black" pitchFamily="34" charset="-122"/>
                <a:cs typeface="Arial Black" pitchFamily="34" charset="-120"/>
              </a:rPr>
              <a:t>SEGUIMIENTO DE</a:t>
            </a:r>
            <a:endParaRPr lang="en-US" sz="6000" dirty="0"/>
          </a:p>
        </p:txBody>
      </p:sp>
      <p:sp>
        <p:nvSpPr>
          <p:cNvPr id="5" name="Text 3"/>
          <p:cNvSpPr/>
          <p:nvPr/>
        </p:nvSpPr>
        <p:spPr>
          <a:xfrm>
            <a:off x="868680" y="2423160"/>
            <a:ext cx="10515600" cy="1097280"/>
          </a:xfrm>
          <a:prstGeom prst="rect">
            <a:avLst/>
          </a:prstGeom>
          <a:noFill/>
          <a:ln/>
        </p:spPr>
        <p:txBody>
          <a:bodyPr wrap="square" lIns="0" tIns="0" rIns="0" bIns="0" rtlCol="0" anchor="ctr"/>
          <a:lstStyle/>
          <a:p>
            <a:pPr indent="0" marL="0">
              <a:buNone/>
            </a:pPr>
            <a:r>
              <a:rPr lang="en-US" sz="6000" b="1" dirty="0">
                <a:solidFill>
                  <a:srgbClr val="00D4FF"/>
                </a:solidFill>
                <a:latin typeface="Arial Black" pitchFamily="34" charset="0"/>
                <a:ea typeface="Arial Black" pitchFamily="34" charset="-122"/>
                <a:cs typeface="Arial Black" pitchFamily="34" charset="-120"/>
              </a:rPr>
              <a:t>JUGADORES</a:t>
            </a:r>
            <a:endParaRPr lang="en-US" sz="6000" dirty="0"/>
          </a:p>
        </p:txBody>
      </p:sp>
      <p:sp>
        <p:nvSpPr>
          <p:cNvPr id="6" name="Text 4"/>
          <p:cNvSpPr/>
          <p:nvPr/>
        </p:nvSpPr>
        <p:spPr>
          <a:xfrm>
            <a:off x="868680" y="3520440"/>
            <a:ext cx="10515600" cy="457200"/>
          </a:xfrm>
          <a:prstGeom prst="rect">
            <a:avLst/>
          </a:prstGeom>
          <a:noFill/>
          <a:ln/>
        </p:spPr>
        <p:txBody>
          <a:bodyPr wrap="square" lIns="0" tIns="0" rIns="0" bIns="0" rtlCol="0" anchor="ctr"/>
          <a:lstStyle/>
          <a:p>
            <a:pPr indent="0" marL="0">
              <a:buNone/>
            </a:pPr>
            <a:r>
              <a:rPr lang="en-US" sz="2200" i="1" dirty="0">
                <a:solidFill>
                  <a:srgbClr val="94A3B8"/>
                </a:solidFill>
                <a:latin typeface="Calibri" pitchFamily="34" charset="0"/>
                <a:ea typeface="Calibri" pitchFamily="34" charset="-122"/>
                <a:cs typeface="Calibri" pitchFamily="34" charset="-120"/>
              </a:rPr>
              <a:t>con Visión Artificial — YOLOv8 · ByteTrack · OpenCV</a:t>
            </a:r>
            <a:endParaRPr lang="en-US" sz="2200" dirty="0"/>
          </a:p>
        </p:txBody>
      </p:sp>
      <p:sp>
        <p:nvSpPr>
          <p:cNvPr id="7" name="Shape 5"/>
          <p:cNvSpPr/>
          <p:nvPr/>
        </p:nvSpPr>
        <p:spPr>
          <a:xfrm>
            <a:off x="868680" y="4736592"/>
            <a:ext cx="128016" cy="128016"/>
          </a:xfrm>
          <a:prstGeom prst="ellipse">
            <a:avLst/>
          </a:prstGeom>
          <a:solidFill>
            <a:srgbClr val="00D4FF"/>
          </a:solidFill>
          <a:ln/>
        </p:spPr>
      </p:sp>
      <p:sp>
        <p:nvSpPr>
          <p:cNvPr id="8" name="Text 6"/>
          <p:cNvSpPr/>
          <p:nvPr/>
        </p:nvSpPr>
        <p:spPr>
          <a:xfrm>
            <a:off x="1097280" y="4572000"/>
            <a:ext cx="4389120" cy="457200"/>
          </a:xfrm>
          <a:prstGeom prst="rect">
            <a:avLst/>
          </a:prstGeom>
          <a:noFill/>
          <a:ln/>
        </p:spPr>
        <p:txBody>
          <a:bodyPr wrap="square" lIns="0" tIns="0" rIns="0" bIns="0" rtlCol="0" anchor="ctr"/>
          <a:lstStyle/>
          <a:p>
            <a:pPr indent="0" marL="0">
              <a:buNone/>
            </a:pPr>
            <a:r>
              <a:rPr lang="en-US" sz="1600" b="1" dirty="0">
                <a:solidFill>
                  <a:srgbClr val="F1F5F9"/>
                </a:solidFill>
                <a:latin typeface="Calibri" pitchFamily="34" charset="0"/>
                <a:ea typeface="Calibri" pitchFamily="34" charset="-122"/>
                <a:cs typeface="Calibri" pitchFamily="34" charset="-120"/>
              </a:rPr>
              <a:t>Sergio Ripoll Ciges</a:t>
            </a:r>
            <a:endParaRPr lang="en-US" sz="1600" dirty="0"/>
          </a:p>
        </p:txBody>
      </p:sp>
      <p:sp>
        <p:nvSpPr>
          <p:cNvPr id="9" name="Shape 7"/>
          <p:cNvSpPr/>
          <p:nvPr/>
        </p:nvSpPr>
        <p:spPr>
          <a:xfrm>
            <a:off x="5623560" y="4736592"/>
            <a:ext cx="128016" cy="128016"/>
          </a:xfrm>
          <a:prstGeom prst="ellipse">
            <a:avLst/>
          </a:prstGeom>
          <a:solidFill>
            <a:srgbClr val="00D4FF"/>
          </a:solidFill>
          <a:ln/>
        </p:spPr>
      </p:sp>
      <p:sp>
        <p:nvSpPr>
          <p:cNvPr id="10" name="Text 8"/>
          <p:cNvSpPr/>
          <p:nvPr/>
        </p:nvSpPr>
        <p:spPr>
          <a:xfrm>
            <a:off x="5852160" y="4572000"/>
            <a:ext cx="4389120" cy="457200"/>
          </a:xfrm>
          <a:prstGeom prst="rect">
            <a:avLst/>
          </a:prstGeom>
          <a:noFill/>
          <a:ln/>
        </p:spPr>
        <p:txBody>
          <a:bodyPr wrap="square" lIns="0" tIns="0" rIns="0" bIns="0" rtlCol="0" anchor="ctr"/>
          <a:lstStyle/>
          <a:p>
            <a:pPr indent="0" marL="0">
              <a:buNone/>
            </a:pPr>
            <a:r>
              <a:rPr lang="en-US" sz="1600" b="1" dirty="0">
                <a:solidFill>
                  <a:srgbClr val="F1F5F9"/>
                </a:solidFill>
                <a:latin typeface="Calibri" pitchFamily="34" charset="0"/>
                <a:ea typeface="Calibri" pitchFamily="34" charset="-122"/>
                <a:cs typeface="Calibri" pitchFamily="34" charset="-120"/>
              </a:rPr>
              <a:t>Carlos Clariana Botella</a:t>
            </a:r>
            <a:endParaRPr lang="en-US" sz="1600" dirty="0"/>
          </a:p>
        </p:txBody>
      </p:sp>
      <p:sp>
        <p:nvSpPr>
          <p:cNvPr id="11" name="Shape 9"/>
          <p:cNvSpPr/>
          <p:nvPr/>
        </p:nvSpPr>
        <p:spPr>
          <a:xfrm>
            <a:off x="868680" y="5239512"/>
            <a:ext cx="128016" cy="128016"/>
          </a:xfrm>
          <a:prstGeom prst="ellipse">
            <a:avLst/>
          </a:prstGeom>
          <a:solidFill>
            <a:srgbClr val="00D4FF"/>
          </a:solidFill>
          <a:ln/>
        </p:spPr>
      </p:sp>
      <p:sp>
        <p:nvSpPr>
          <p:cNvPr id="12" name="Text 10"/>
          <p:cNvSpPr/>
          <p:nvPr/>
        </p:nvSpPr>
        <p:spPr>
          <a:xfrm>
            <a:off x="1097280" y="5074920"/>
            <a:ext cx="4389120" cy="457200"/>
          </a:xfrm>
          <a:prstGeom prst="rect">
            <a:avLst/>
          </a:prstGeom>
          <a:noFill/>
          <a:ln/>
        </p:spPr>
        <p:txBody>
          <a:bodyPr wrap="square" lIns="0" tIns="0" rIns="0" bIns="0" rtlCol="0" anchor="ctr"/>
          <a:lstStyle/>
          <a:p>
            <a:pPr indent="0" marL="0">
              <a:buNone/>
            </a:pPr>
            <a:r>
              <a:rPr lang="en-US" sz="1600" b="1" dirty="0">
                <a:solidFill>
                  <a:srgbClr val="F1F5F9"/>
                </a:solidFill>
                <a:latin typeface="Calibri" pitchFamily="34" charset="0"/>
                <a:ea typeface="Calibri" pitchFamily="34" charset="-122"/>
                <a:cs typeface="Calibri" pitchFamily="34" charset="-120"/>
              </a:rPr>
              <a:t>Marc Forés Domenech</a:t>
            </a:r>
            <a:endParaRPr lang="en-US" sz="1600" dirty="0"/>
          </a:p>
        </p:txBody>
      </p:sp>
      <p:sp>
        <p:nvSpPr>
          <p:cNvPr id="13" name="Shape 11"/>
          <p:cNvSpPr/>
          <p:nvPr/>
        </p:nvSpPr>
        <p:spPr>
          <a:xfrm>
            <a:off x="5623560" y="5239512"/>
            <a:ext cx="128016" cy="128016"/>
          </a:xfrm>
          <a:prstGeom prst="ellipse">
            <a:avLst/>
          </a:prstGeom>
          <a:solidFill>
            <a:srgbClr val="00D4FF"/>
          </a:solidFill>
          <a:ln/>
        </p:spPr>
      </p:sp>
      <p:sp>
        <p:nvSpPr>
          <p:cNvPr id="14" name="Text 12"/>
          <p:cNvSpPr/>
          <p:nvPr/>
        </p:nvSpPr>
        <p:spPr>
          <a:xfrm>
            <a:off x="5852160" y="5074920"/>
            <a:ext cx="4389120" cy="457200"/>
          </a:xfrm>
          <a:prstGeom prst="rect">
            <a:avLst/>
          </a:prstGeom>
          <a:noFill/>
          <a:ln/>
        </p:spPr>
        <p:txBody>
          <a:bodyPr wrap="square" lIns="0" tIns="0" rIns="0" bIns="0" rtlCol="0" anchor="ctr"/>
          <a:lstStyle/>
          <a:p>
            <a:pPr indent="0" marL="0">
              <a:buNone/>
            </a:pPr>
            <a:r>
              <a:rPr lang="en-US" sz="1600" b="1" dirty="0">
                <a:solidFill>
                  <a:srgbClr val="F1F5F9"/>
                </a:solidFill>
                <a:latin typeface="Calibri" pitchFamily="34" charset="0"/>
                <a:ea typeface="Calibri" pitchFamily="34" charset="-122"/>
                <a:cs typeface="Calibri" pitchFamily="34" charset="-120"/>
              </a:rPr>
              <a:t>Carlos Molina Castellanos</a:t>
            </a:r>
            <a:endParaRPr lang="en-US" sz="1600" dirty="0"/>
          </a:p>
        </p:txBody>
      </p:sp>
      <p:sp>
        <p:nvSpPr>
          <p:cNvPr id="15" name="Text 13"/>
          <p:cNvSpPr/>
          <p:nvPr/>
        </p:nvSpPr>
        <p:spPr>
          <a:xfrm>
            <a:off x="868680" y="6080760"/>
            <a:ext cx="7315200" cy="27432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Universidad Politécnica de Valencia</a:t>
            </a:r>
            <a:endParaRPr lang="en-US" sz="1100" dirty="0"/>
          </a:p>
        </p:txBody>
      </p:sp>
      <p:sp>
        <p:nvSpPr>
          <p:cNvPr id="16" name="Text 14"/>
          <p:cNvSpPr/>
          <p:nvPr/>
        </p:nvSpPr>
        <p:spPr>
          <a:xfrm>
            <a:off x="10058400" y="6080760"/>
            <a:ext cx="1554480" cy="274320"/>
          </a:xfrm>
          <a:prstGeom prst="rect">
            <a:avLst/>
          </a:prstGeom>
          <a:noFill/>
          <a:ln/>
        </p:spPr>
        <p:txBody>
          <a:bodyPr wrap="square" lIns="0" tIns="0" rIns="0" bIns="0" rtlCol="0" anchor="ctr"/>
          <a:lstStyle/>
          <a:p>
            <a:pPr algn="r" indent="0" marL="0">
              <a:buNone/>
            </a:pPr>
            <a:r>
              <a:rPr lang="en-US" sz="1100" b="1" dirty="0">
                <a:solidFill>
                  <a:srgbClr val="00D4FF"/>
                </a:solidFill>
                <a:latin typeface="Consolas" pitchFamily="34" charset="0"/>
                <a:ea typeface="Consolas" pitchFamily="34" charset="-122"/>
                <a:cs typeface="Consolas" pitchFamily="34" charset="-120"/>
              </a:rPr>
              <a:t>15 · 05 · 2026</a:t>
            </a:r>
            <a:endParaRPr lang="en-US" sz="1100" dirty="0"/>
          </a:p>
        </p:txBody>
      </p:sp>
      <p:sp>
        <p:nvSpPr>
          <p:cNvPr id="17" name="Shape 15"/>
          <p:cNvSpPr/>
          <p:nvPr/>
        </p:nvSpPr>
        <p:spPr>
          <a:xfrm>
            <a:off x="9601200" y="1417320"/>
            <a:ext cx="914400" cy="320040"/>
          </a:xfrm>
          <a:prstGeom prst="rect">
            <a:avLst/>
          </a:prstGeom>
          <a:solidFill>
            <a:srgbClr val="0A1628">
              <a:alpha val="70000"/>
            </a:srgbClr>
          </a:solidFill>
          <a:ln w="19050">
            <a:solidFill>
              <a:srgbClr val="00D4FF"/>
            </a:solidFill>
            <a:prstDash val="solid"/>
          </a:ln>
        </p:spPr>
      </p:sp>
      <p:sp>
        <p:nvSpPr>
          <p:cNvPr id="18" name="Text 16"/>
          <p:cNvSpPr/>
          <p:nvPr/>
        </p:nvSpPr>
        <p:spPr>
          <a:xfrm>
            <a:off x="9601200" y="1417320"/>
            <a:ext cx="914400" cy="320040"/>
          </a:xfrm>
          <a:prstGeom prst="rect">
            <a:avLst/>
          </a:prstGeom>
          <a:noFill/>
          <a:ln/>
        </p:spPr>
        <p:txBody>
          <a:bodyPr wrap="square" lIns="0" tIns="0" rIns="0" bIns="0" rtlCol="0" anchor="ctr"/>
          <a:lstStyle/>
          <a:p>
            <a:pPr algn="ctr" indent="0" marL="0">
              <a:buNone/>
            </a:pPr>
            <a:r>
              <a:rPr lang="en-US" sz="1100" b="1" dirty="0">
                <a:solidFill>
                  <a:srgbClr val="00D4FF"/>
                </a:solidFill>
                <a:latin typeface="Consolas" pitchFamily="34" charset="0"/>
                <a:ea typeface="Consolas" pitchFamily="34" charset="-122"/>
                <a:cs typeface="Consolas" pitchFamily="34" charset="-120"/>
              </a:rPr>
              <a:t>ID: 07</a:t>
            </a:r>
            <a:endParaRPr lang="en-US" sz="1100" dirty="0"/>
          </a:p>
        </p:txBody>
      </p:sp>
      <p:sp>
        <p:nvSpPr>
          <p:cNvPr id="19" name="Shape 17"/>
          <p:cNvSpPr/>
          <p:nvPr/>
        </p:nvSpPr>
        <p:spPr>
          <a:xfrm>
            <a:off x="10698480" y="1920240"/>
            <a:ext cx="914400" cy="320040"/>
          </a:xfrm>
          <a:prstGeom prst="rect">
            <a:avLst/>
          </a:prstGeom>
          <a:solidFill>
            <a:srgbClr val="0A1628">
              <a:alpha val="70000"/>
            </a:srgbClr>
          </a:solidFill>
          <a:ln w="19050">
            <a:solidFill>
              <a:srgbClr val="00D4FF"/>
            </a:solidFill>
            <a:prstDash val="solid"/>
          </a:ln>
        </p:spPr>
      </p:sp>
      <p:sp>
        <p:nvSpPr>
          <p:cNvPr id="20" name="Text 18"/>
          <p:cNvSpPr/>
          <p:nvPr/>
        </p:nvSpPr>
        <p:spPr>
          <a:xfrm>
            <a:off x="10698480" y="1920240"/>
            <a:ext cx="914400" cy="320040"/>
          </a:xfrm>
          <a:prstGeom prst="rect">
            <a:avLst/>
          </a:prstGeom>
          <a:noFill/>
          <a:ln/>
        </p:spPr>
        <p:txBody>
          <a:bodyPr wrap="square" lIns="0" tIns="0" rIns="0" bIns="0" rtlCol="0" anchor="ctr"/>
          <a:lstStyle/>
          <a:p>
            <a:pPr algn="ctr" indent="0" marL="0">
              <a:buNone/>
            </a:pPr>
            <a:r>
              <a:rPr lang="en-US" sz="1100" b="1" dirty="0">
                <a:solidFill>
                  <a:srgbClr val="00D4FF"/>
                </a:solidFill>
                <a:latin typeface="Consolas" pitchFamily="34" charset="0"/>
                <a:ea typeface="Consolas" pitchFamily="34" charset="-122"/>
                <a:cs typeface="Consolas" pitchFamily="34" charset="-120"/>
              </a:rPr>
              <a:t>ID: 03</a:t>
            </a:r>
            <a:endParaRPr lang="en-US" sz="1100" dirty="0"/>
          </a:p>
        </p:txBody>
      </p:sp>
      <p:sp>
        <p:nvSpPr>
          <p:cNvPr id="21" name="Shape 19"/>
          <p:cNvSpPr/>
          <p:nvPr/>
        </p:nvSpPr>
        <p:spPr>
          <a:xfrm>
            <a:off x="9875520" y="2834640"/>
            <a:ext cx="914400" cy="320040"/>
          </a:xfrm>
          <a:prstGeom prst="rect">
            <a:avLst/>
          </a:prstGeom>
          <a:solidFill>
            <a:srgbClr val="0A1628">
              <a:alpha val="70000"/>
            </a:srgbClr>
          </a:solidFill>
          <a:ln w="19050">
            <a:solidFill>
              <a:srgbClr val="00D4FF"/>
            </a:solidFill>
            <a:prstDash val="solid"/>
          </a:ln>
        </p:spPr>
      </p:sp>
      <p:sp>
        <p:nvSpPr>
          <p:cNvPr id="22" name="Text 20"/>
          <p:cNvSpPr/>
          <p:nvPr/>
        </p:nvSpPr>
        <p:spPr>
          <a:xfrm>
            <a:off x="9875520" y="2834640"/>
            <a:ext cx="914400" cy="320040"/>
          </a:xfrm>
          <a:prstGeom prst="rect">
            <a:avLst/>
          </a:prstGeom>
          <a:noFill/>
          <a:ln/>
        </p:spPr>
        <p:txBody>
          <a:bodyPr wrap="square" lIns="0" tIns="0" rIns="0" bIns="0" rtlCol="0" anchor="ctr"/>
          <a:lstStyle/>
          <a:p>
            <a:pPr algn="ctr" indent="0" marL="0">
              <a:buNone/>
            </a:pPr>
            <a:r>
              <a:rPr lang="en-US" sz="1100" b="1" dirty="0">
                <a:solidFill>
                  <a:srgbClr val="00D4FF"/>
                </a:solidFill>
                <a:latin typeface="Consolas" pitchFamily="34" charset="0"/>
                <a:ea typeface="Consolas" pitchFamily="34" charset="-122"/>
                <a:cs typeface="Consolas" pitchFamily="34" charset="-120"/>
              </a:rPr>
              <a:t>ID: 10</a:t>
            </a:r>
            <a:endParaRPr lang="en-US" sz="1100" dirty="0"/>
          </a:p>
        </p:txBody>
      </p:sp>
      <p:sp>
        <p:nvSpPr>
          <p:cNvPr id="23" name="Shape 21"/>
          <p:cNvSpPr/>
          <p:nvPr/>
        </p:nvSpPr>
        <p:spPr>
          <a:xfrm>
            <a:off x="10881360" y="3383280"/>
            <a:ext cx="914400" cy="320040"/>
          </a:xfrm>
          <a:prstGeom prst="rect">
            <a:avLst/>
          </a:prstGeom>
          <a:solidFill>
            <a:srgbClr val="0A1628">
              <a:alpha val="70000"/>
            </a:srgbClr>
          </a:solidFill>
          <a:ln w="19050">
            <a:solidFill>
              <a:srgbClr val="00D4FF"/>
            </a:solidFill>
            <a:prstDash val="solid"/>
          </a:ln>
        </p:spPr>
      </p:sp>
      <p:sp>
        <p:nvSpPr>
          <p:cNvPr id="24" name="Text 22"/>
          <p:cNvSpPr/>
          <p:nvPr/>
        </p:nvSpPr>
        <p:spPr>
          <a:xfrm>
            <a:off x="10881360" y="3383280"/>
            <a:ext cx="914400" cy="320040"/>
          </a:xfrm>
          <a:prstGeom prst="rect">
            <a:avLst/>
          </a:prstGeom>
          <a:noFill/>
          <a:ln/>
        </p:spPr>
        <p:txBody>
          <a:bodyPr wrap="square" lIns="0" tIns="0" rIns="0" bIns="0" rtlCol="0" anchor="ctr"/>
          <a:lstStyle/>
          <a:p>
            <a:pPr algn="ctr" indent="0" marL="0">
              <a:buNone/>
            </a:pPr>
            <a:r>
              <a:rPr lang="en-US" sz="1100" b="1" dirty="0">
                <a:solidFill>
                  <a:srgbClr val="00D4FF"/>
                </a:solidFill>
                <a:latin typeface="Consolas" pitchFamily="34" charset="0"/>
                <a:ea typeface="Consolas" pitchFamily="34" charset="-122"/>
                <a:cs typeface="Consolas" pitchFamily="34" charset="-120"/>
              </a:rPr>
              <a:t>ID: 11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713232" y="292608"/>
            <a:ext cx="4572000" cy="274320"/>
          </a:xfrm>
          <a:prstGeom prst="rect">
            <a:avLst/>
          </a:prstGeom>
          <a:noFill/>
          <a:ln/>
        </p:spPr>
        <p:txBody>
          <a:bodyPr wrap="square" lIns="0" tIns="0" rIns="0" bIns="0" rtlCol="0" anchor="ctr"/>
          <a:lstStyle/>
          <a:p>
            <a:pPr indent="0" marL="0">
              <a:buNone/>
            </a:pPr>
            <a:r>
              <a:rPr lang="en-US" sz="1000" b="1" spc="400" kern="0" dirty="0">
                <a:solidFill>
                  <a:srgbClr val="00D4FF"/>
                </a:solidFill>
                <a:latin typeface="Calibri" pitchFamily="34" charset="0"/>
                <a:ea typeface="Calibri" pitchFamily="34" charset="-122"/>
                <a:cs typeface="Calibri" pitchFamily="34" charset="-120"/>
              </a:rPr>
              <a:t>VISIÓN ARTIFICIAL · UPV</a:t>
            </a:r>
            <a:endParaRPr lang="en-US" sz="1000" dirty="0"/>
          </a:p>
        </p:txBody>
      </p:sp>
      <p:sp>
        <p:nvSpPr>
          <p:cNvPr id="3" name="Text 1"/>
          <p:cNvSpPr/>
          <p:nvPr/>
        </p:nvSpPr>
        <p:spPr>
          <a:xfrm>
            <a:off x="548640" y="594360"/>
            <a:ext cx="10058400" cy="731520"/>
          </a:xfrm>
          <a:prstGeom prst="rect">
            <a:avLst/>
          </a:prstGeom>
          <a:noFill/>
          <a:ln/>
        </p:spPr>
        <p:txBody>
          <a:bodyPr wrap="square" lIns="0" tIns="0" rIns="0" bIns="0" rtlCol="0" anchor="ctr"/>
          <a:lstStyle/>
          <a:p>
            <a:pPr indent="0" marL="0">
              <a:buNone/>
            </a:pPr>
            <a:r>
              <a:rPr lang="en-US" sz="3200" b="1" dirty="0">
                <a:solidFill>
                  <a:srgbClr val="F1F5F9"/>
                </a:solidFill>
                <a:latin typeface="Calibri" pitchFamily="34" charset="0"/>
                <a:ea typeface="Calibri" pitchFamily="34" charset="-122"/>
                <a:cs typeface="Calibri" pitchFamily="34" charset="-120"/>
              </a:rPr>
              <a:t>El problema y los objetivos</a:t>
            </a:r>
            <a:endParaRPr lang="en-US" sz="3200" dirty="0"/>
          </a:p>
        </p:txBody>
      </p:sp>
      <p:sp>
        <p:nvSpPr>
          <p:cNvPr id="4" name="Text 2"/>
          <p:cNvSpPr/>
          <p:nvPr/>
        </p:nvSpPr>
        <p:spPr>
          <a:xfrm>
            <a:off x="548640" y="1280160"/>
            <a:ext cx="10058400" cy="365760"/>
          </a:xfrm>
          <a:prstGeom prst="rect">
            <a:avLst/>
          </a:prstGeom>
          <a:noFill/>
          <a:ln/>
        </p:spPr>
        <p:txBody>
          <a:bodyPr wrap="square" lIns="0" tIns="0" rIns="0" bIns="0" rtlCol="0" anchor="ctr"/>
          <a:lstStyle/>
          <a:p>
            <a:pPr indent="0" marL="0">
              <a:buNone/>
            </a:pPr>
            <a:r>
              <a:rPr lang="en-US" sz="1400" i="1" dirty="0">
                <a:solidFill>
                  <a:srgbClr val="94A3B8"/>
                </a:solidFill>
                <a:latin typeface="Calibri" pitchFamily="34" charset="0"/>
                <a:ea typeface="Calibri" pitchFamily="34" charset="-122"/>
                <a:cs typeface="Calibri" pitchFamily="34" charset="-120"/>
              </a:rPr>
              <a:t>Qué queríamos que hiciera el sistema, desde el principio</a:t>
            </a:r>
            <a:endParaRPr lang="en-US" sz="1400" dirty="0"/>
          </a:p>
        </p:txBody>
      </p:sp>
      <p:sp>
        <p:nvSpPr>
          <p:cNvPr id="5" name="Text 3"/>
          <p:cNvSpPr/>
          <p:nvPr/>
        </p:nvSpPr>
        <p:spPr>
          <a:xfrm>
            <a:off x="11155680" y="6446520"/>
            <a:ext cx="640080" cy="274320"/>
          </a:xfrm>
          <a:prstGeom prst="rect">
            <a:avLst/>
          </a:prstGeom>
          <a:noFill/>
          <a:ln/>
        </p:spPr>
        <p:txBody>
          <a:bodyPr wrap="square" lIns="0" tIns="0" rIns="0" bIns="0" rtlCol="0" anchor="ctr"/>
          <a:lstStyle/>
          <a:p>
            <a:pPr algn="r" indent="0" marL="0">
              <a:buNone/>
            </a:pPr>
            <a:r>
              <a:rPr lang="en-US" sz="1000" dirty="0">
                <a:solidFill>
                  <a:srgbClr val="94A3B8"/>
                </a:solidFill>
                <a:latin typeface="Consolas" pitchFamily="34" charset="0"/>
                <a:ea typeface="Consolas" pitchFamily="34" charset="-122"/>
                <a:cs typeface="Consolas" pitchFamily="34" charset="-120"/>
              </a:rPr>
              <a:t>2 / 9</a:t>
            </a:r>
            <a:endParaRPr lang="en-US" sz="1000" dirty="0"/>
          </a:p>
        </p:txBody>
      </p:sp>
      <p:sp>
        <p:nvSpPr>
          <p:cNvPr id="6" name="Shape 4"/>
          <p:cNvSpPr/>
          <p:nvPr/>
        </p:nvSpPr>
        <p:spPr>
          <a:xfrm>
            <a:off x="548640" y="320040"/>
            <a:ext cx="45720" cy="164592"/>
          </a:xfrm>
          <a:prstGeom prst="rect">
            <a:avLst/>
          </a:prstGeom>
          <a:solidFill>
            <a:srgbClr val="00D4FF"/>
          </a:solidFill>
          <a:ln/>
        </p:spPr>
      </p:sp>
      <p:sp>
        <p:nvSpPr>
          <p:cNvPr id="7" name="Shape 5"/>
          <p:cNvSpPr/>
          <p:nvPr/>
        </p:nvSpPr>
        <p:spPr>
          <a:xfrm>
            <a:off x="548640" y="1874520"/>
            <a:ext cx="4114800" cy="4389120"/>
          </a:xfrm>
          <a:prstGeom prst="rect">
            <a:avLst/>
          </a:prstGeom>
          <a:solidFill>
            <a:srgbClr val="1B2A41"/>
          </a:solidFill>
          <a:ln/>
        </p:spPr>
      </p:sp>
      <p:sp>
        <p:nvSpPr>
          <p:cNvPr id="8" name="Shape 6"/>
          <p:cNvSpPr/>
          <p:nvPr/>
        </p:nvSpPr>
        <p:spPr>
          <a:xfrm>
            <a:off x="548640" y="1874520"/>
            <a:ext cx="73152" cy="4389120"/>
          </a:xfrm>
          <a:prstGeom prst="rect">
            <a:avLst/>
          </a:prstGeom>
          <a:solidFill>
            <a:srgbClr val="00D4FF"/>
          </a:solidFill>
          <a:ln/>
        </p:spPr>
      </p:sp>
      <p:sp>
        <p:nvSpPr>
          <p:cNvPr id="9" name="Text 7"/>
          <p:cNvSpPr/>
          <p:nvPr/>
        </p:nvSpPr>
        <p:spPr>
          <a:xfrm>
            <a:off x="777240" y="2011680"/>
            <a:ext cx="3840480" cy="320040"/>
          </a:xfrm>
          <a:prstGeom prst="rect">
            <a:avLst/>
          </a:prstGeom>
          <a:noFill/>
          <a:ln/>
        </p:spPr>
        <p:txBody>
          <a:bodyPr wrap="square" lIns="0" tIns="0" rIns="0" bIns="0" rtlCol="0" anchor="ctr"/>
          <a:lstStyle/>
          <a:p>
            <a:pPr indent="0" marL="0">
              <a:buNone/>
            </a:pPr>
            <a:r>
              <a:rPr lang="en-US" sz="1100" b="1" spc="400" kern="0" dirty="0">
                <a:solidFill>
                  <a:srgbClr val="00D4FF"/>
                </a:solidFill>
                <a:latin typeface="Calibri" pitchFamily="34" charset="0"/>
                <a:ea typeface="Calibri" pitchFamily="34" charset="-122"/>
                <a:cs typeface="Calibri" pitchFamily="34" charset="-120"/>
              </a:rPr>
              <a:t>CONTEXTO</a:t>
            </a:r>
            <a:endParaRPr lang="en-US" sz="1100" dirty="0"/>
          </a:p>
        </p:txBody>
      </p:sp>
      <p:sp>
        <p:nvSpPr>
          <p:cNvPr id="10" name="Text 8"/>
          <p:cNvSpPr/>
          <p:nvPr/>
        </p:nvSpPr>
        <p:spPr>
          <a:xfrm>
            <a:off x="777240" y="2377440"/>
            <a:ext cx="3749040" cy="3749040"/>
          </a:xfrm>
          <a:prstGeom prst="rect">
            <a:avLst/>
          </a:prstGeom>
          <a:noFill/>
          <a:ln/>
        </p:spPr>
        <p:txBody>
          <a:bodyPr wrap="square" lIns="0" tIns="0" rIns="0" bIns="0" rtlCol="0" anchor="t"/>
          <a:lstStyle/>
          <a:p>
            <a:pPr indent="0" marL="0">
              <a:spcAft>
                <a:spcPts val="600"/>
              </a:spcAft>
              <a:buNone/>
            </a:pPr>
            <a:r>
              <a:rPr lang="en-US" sz="1400" dirty="0">
                <a:solidFill>
                  <a:srgbClr val="F1F5F9"/>
                </a:solidFill>
                <a:latin typeface="Calibri" pitchFamily="34" charset="0"/>
                <a:ea typeface="Calibri" pitchFamily="34" charset="-122"/>
                <a:cs typeface="Calibri" pitchFamily="34" charset="-120"/>
              </a:rPr>
              <a:t>En cualquier partido de fútbol moderno aparecen mapas de calor, velocidades y trayectorias en pantalla. Detrás siempre hay visión artificial.</a:t>
            </a:r>
            <a:endParaRPr lang="en-US" sz="1400" dirty="0"/>
          </a:p>
          <a:p>
            <a:pPr indent="0" marL="0">
              <a:spcAft>
                <a:spcPts val="600"/>
              </a:spcAft>
              <a:buNone/>
            </a:pPr>
            <a:endParaRPr lang="en-US" sz="1400" dirty="0"/>
          </a:p>
          <a:p>
            <a:pPr indent="0" marL="0">
              <a:spcAft>
                <a:spcPts val="600"/>
              </a:spcAft>
              <a:buNone/>
            </a:pPr>
            <a:r>
              <a:rPr lang="en-US" sz="1400" dirty="0">
                <a:solidFill>
                  <a:srgbClr val="F1F5F9"/>
                </a:solidFill>
                <a:latin typeface="Calibri" pitchFamily="34" charset="0"/>
                <a:ea typeface="Calibri" pitchFamily="34" charset="-122"/>
                <a:cs typeface="Calibri" pitchFamily="34" charset="-120"/>
              </a:rPr>
              <a:t>Quisimos construir algo parecido, a escala de estudiantes, partiendo de un vídeo de partido y llegando a una analítica visual del juego.</a:t>
            </a:r>
            <a:endParaRPr lang="en-US" sz="1400" dirty="0"/>
          </a:p>
        </p:txBody>
      </p:sp>
      <p:sp>
        <p:nvSpPr>
          <p:cNvPr id="11" name="Shape 9"/>
          <p:cNvSpPr/>
          <p:nvPr/>
        </p:nvSpPr>
        <p:spPr>
          <a:xfrm>
            <a:off x="5029200" y="1874520"/>
            <a:ext cx="3383280" cy="1371600"/>
          </a:xfrm>
          <a:prstGeom prst="rect">
            <a:avLst/>
          </a:prstGeom>
          <a:solidFill>
            <a:srgbClr val="1B2A41"/>
          </a:solidFill>
          <a:ln/>
        </p:spPr>
      </p:sp>
      <p:sp>
        <p:nvSpPr>
          <p:cNvPr id="12" name="Shape 10"/>
          <p:cNvSpPr/>
          <p:nvPr/>
        </p:nvSpPr>
        <p:spPr>
          <a:xfrm>
            <a:off x="5212080" y="2103120"/>
            <a:ext cx="640080" cy="640080"/>
          </a:xfrm>
          <a:prstGeom prst="ellipse">
            <a:avLst/>
          </a:prstGeom>
          <a:solidFill>
            <a:srgbClr val="243A5E"/>
          </a:solidFill>
          <a:ln w="12700">
            <a:solidFill>
              <a:srgbClr val="00D4FF"/>
            </a:solidFill>
            <a:prstDash val="solid"/>
          </a:ln>
        </p:spPr>
      </p:sp>
      <p:pic>
        <p:nvPicPr>
          <p:cNvPr id="13" name="Image 0" descr="preencoded.png">    </p:cNvPr>
          <p:cNvPicPr>
            <a:picLocks noChangeAspect="1"/>
          </p:cNvPicPr>
          <p:nvPr/>
        </p:nvPicPr>
        <p:blipFill>
          <a:blip r:embed="rId1"/>
          <a:stretch>
            <a:fillRect/>
          </a:stretch>
        </p:blipFill>
        <p:spPr>
          <a:xfrm>
            <a:off x="5321808" y="2212848"/>
            <a:ext cx="420624" cy="420624"/>
          </a:xfrm>
          <a:prstGeom prst="rect">
            <a:avLst/>
          </a:prstGeom>
        </p:spPr>
      </p:pic>
      <p:sp>
        <p:nvSpPr>
          <p:cNvPr id="14" name="Text 11"/>
          <p:cNvSpPr/>
          <p:nvPr/>
        </p:nvSpPr>
        <p:spPr>
          <a:xfrm>
            <a:off x="5943600" y="2057400"/>
            <a:ext cx="2377440" cy="411480"/>
          </a:xfrm>
          <a:prstGeom prst="rect">
            <a:avLst/>
          </a:prstGeom>
          <a:noFill/>
          <a:ln/>
        </p:spPr>
        <p:txBody>
          <a:bodyPr wrap="square" lIns="0" tIns="0" rIns="0" bIns="0" rtlCol="0" anchor="ctr"/>
          <a:lstStyle/>
          <a:p>
            <a:pPr indent="0" marL="0">
              <a:buNone/>
            </a:pPr>
            <a:r>
              <a:rPr lang="en-US" sz="1400" b="1" dirty="0">
                <a:solidFill>
                  <a:srgbClr val="F1F5F9"/>
                </a:solidFill>
                <a:latin typeface="Calibri" pitchFamily="34" charset="0"/>
                <a:ea typeface="Calibri" pitchFamily="34" charset="-122"/>
                <a:cs typeface="Calibri" pitchFamily="34" charset="-120"/>
              </a:rPr>
              <a:t>Detectar jugadores</a:t>
            </a:r>
            <a:endParaRPr lang="en-US" sz="1400" dirty="0"/>
          </a:p>
        </p:txBody>
      </p:sp>
      <p:sp>
        <p:nvSpPr>
          <p:cNvPr id="15" name="Text 12"/>
          <p:cNvSpPr/>
          <p:nvPr/>
        </p:nvSpPr>
        <p:spPr>
          <a:xfrm>
            <a:off x="5943600" y="2468880"/>
            <a:ext cx="2377440" cy="640080"/>
          </a:xfrm>
          <a:prstGeom prst="rect">
            <a:avLst/>
          </a:prstGeom>
          <a:noFill/>
          <a:ln/>
        </p:spPr>
        <p:txBody>
          <a:bodyPr wrap="square" lIns="0" tIns="0" rIns="0" bIns="0" rtlCol="0" anchor="t"/>
          <a:lstStyle/>
          <a:p>
            <a:pPr indent="0" marL="0">
              <a:buNone/>
            </a:pPr>
            <a:r>
              <a:rPr lang="en-US" sz="1100" dirty="0">
                <a:solidFill>
                  <a:srgbClr val="94A3B8"/>
                </a:solidFill>
                <a:latin typeface="Calibri" pitchFamily="34" charset="0"/>
                <a:ea typeface="Calibri" pitchFamily="34" charset="-122"/>
                <a:cs typeface="Calibri" pitchFamily="34" charset="-120"/>
              </a:rPr>
              <a:t>Fotograma a fotograma</a:t>
            </a:r>
            <a:endParaRPr lang="en-US" sz="1100" dirty="0"/>
          </a:p>
        </p:txBody>
      </p:sp>
      <p:sp>
        <p:nvSpPr>
          <p:cNvPr id="16" name="Shape 13"/>
          <p:cNvSpPr/>
          <p:nvPr/>
        </p:nvSpPr>
        <p:spPr>
          <a:xfrm>
            <a:off x="8549640" y="1874520"/>
            <a:ext cx="3383280" cy="1371600"/>
          </a:xfrm>
          <a:prstGeom prst="rect">
            <a:avLst/>
          </a:prstGeom>
          <a:solidFill>
            <a:srgbClr val="1B2A41"/>
          </a:solidFill>
          <a:ln/>
        </p:spPr>
      </p:sp>
      <p:sp>
        <p:nvSpPr>
          <p:cNvPr id="17" name="Shape 14"/>
          <p:cNvSpPr/>
          <p:nvPr/>
        </p:nvSpPr>
        <p:spPr>
          <a:xfrm>
            <a:off x="8732520" y="2103120"/>
            <a:ext cx="640080" cy="640080"/>
          </a:xfrm>
          <a:prstGeom prst="ellipse">
            <a:avLst/>
          </a:prstGeom>
          <a:solidFill>
            <a:srgbClr val="243A5E"/>
          </a:solidFill>
          <a:ln w="12700">
            <a:solidFill>
              <a:srgbClr val="00D4FF"/>
            </a:solidFill>
            <a:prstDash val="solid"/>
          </a:ln>
        </p:spPr>
      </p:sp>
      <p:pic>
        <p:nvPicPr>
          <p:cNvPr id="18" name="Image 1" descr="preencoded.png">    </p:cNvPr>
          <p:cNvPicPr>
            <a:picLocks noChangeAspect="1"/>
          </p:cNvPicPr>
          <p:nvPr/>
        </p:nvPicPr>
        <p:blipFill>
          <a:blip r:embed="rId2"/>
          <a:stretch>
            <a:fillRect/>
          </a:stretch>
        </p:blipFill>
        <p:spPr>
          <a:xfrm>
            <a:off x="8842248" y="2212848"/>
            <a:ext cx="420624" cy="420624"/>
          </a:xfrm>
          <a:prstGeom prst="rect">
            <a:avLst/>
          </a:prstGeom>
        </p:spPr>
      </p:pic>
      <p:sp>
        <p:nvSpPr>
          <p:cNvPr id="19" name="Text 15"/>
          <p:cNvSpPr/>
          <p:nvPr/>
        </p:nvSpPr>
        <p:spPr>
          <a:xfrm>
            <a:off x="9464040" y="2057400"/>
            <a:ext cx="2377440" cy="411480"/>
          </a:xfrm>
          <a:prstGeom prst="rect">
            <a:avLst/>
          </a:prstGeom>
          <a:noFill/>
          <a:ln/>
        </p:spPr>
        <p:txBody>
          <a:bodyPr wrap="square" lIns="0" tIns="0" rIns="0" bIns="0" rtlCol="0" anchor="ctr"/>
          <a:lstStyle/>
          <a:p>
            <a:pPr indent="0" marL="0">
              <a:buNone/>
            </a:pPr>
            <a:r>
              <a:rPr lang="en-US" sz="1400" b="1" dirty="0">
                <a:solidFill>
                  <a:srgbClr val="F1F5F9"/>
                </a:solidFill>
                <a:latin typeface="Calibri" pitchFamily="34" charset="0"/>
                <a:ea typeface="Calibri" pitchFamily="34" charset="-122"/>
                <a:cs typeface="Calibri" pitchFamily="34" charset="-120"/>
              </a:rPr>
              <a:t>Separar por equipos</a:t>
            </a:r>
            <a:endParaRPr lang="en-US" sz="1400" dirty="0"/>
          </a:p>
        </p:txBody>
      </p:sp>
      <p:sp>
        <p:nvSpPr>
          <p:cNvPr id="20" name="Text 16"/>
          <p:cNvSpPr/>
          <p:nvPr/>
        </p:nvSpPr>
        <p:spPr>
          <a:xfrm>
            <a:off x="9464040" y="2468880"/>
            <a:ext cx="2377440" cy="640080"/>
          </a:xfrm>
          <a:prstGeom prst="rect">
            <a:avLst/>
          </a:prstGeom>
          <a:noFill/>
          <a:ln/>
        </p:spPr>
        <p:txBody>
          <a:bodyPr wrap="square" lIns="0" tIns="0" rIns="0" bIns="0" rtlCol="0" anchor="t"/>
          <a:lstStyle/>
          <a:p>
            <a:pPr indent="0" marL="0">
              <a:buNone/>
            </a:pPr>
            <a:r>
              <a:rPr lang="en-US" sz="1100" dirty="0">
                <a:solidFill>
                  <a:srgbClr val="94A3B8"/>
                </a:solidFill>
                <a:latin typeface="Calibri" pitchFamily="34" charset="0"/>
                <a:ea typeface="Calibri" pitchFamily="34" charset="-122"/>
                <a:cs typeface="Calibri" pitchFamily="34" charset="-120"/>
              </a:rPr>
              <a:t>Automático, por color</a:t>
            </a:r>
            <a:endParaRPr lang="en-US" sz="1100" dirty="0"/>
          </a:p>
        </p:txBody>
      </p:sp>
      <p:sp>
        <p:nvSpPr>
          <p:cNvPr id="21" name="Shape 17"/>
          <p:cNvSpPr/>
          <p:nvPr/>
        </p:nvSpPr>
        <p:spPr>
          <a:xfrm>
            <a:off x="5029200" y="3383280"/>
            <a:ext cx="3383280" cy="1371600"/>
          </a:xfrm>
          <a:prstGeom prst="rect">
            <a:avLst/>
          </a:prstGeom>
          <a:solidFill>
            <a:srgbClr val="1B2A41"/>
          </a:solidFill>
          <a:ln/>
        </p:spPr>
      </p:sp>
      <p:sp>
        <p:nvSpPr>
          <p:cNvPr id="22" name="Shape 18"/>
          <p:cNvSpPr/>
          <p:nvPr/>
        </p:nvSpPr>
        <p:spPr>
          <a:xfrm>
            <a:off x="5212080" y="3611880"/>
            <a:ext cx="640080" cy="640080"/>
          </a:xfrm>
          <a:prstGeom prst="ellipse">
            <a:avLst/>
          </a:prstGeom>
          <a:solidFill>
            <a:srgbClr val="243A5E"/>
          </a:solidFill>
          <a:ln w="12700">
            <a:solidFill>
              <a:srgbClr val="00D4FF"/>
            </a:solidFill>
            <a:prstDash val="solid"/>
          </a:ln>
        </p:spPr>
      </p:sp>
      <p:pic>
        <p:nvPicPr>
          <p:cNvPr id="23" name="Image 2" descr="preencoded.png">    </p:cNvPr>
          <p:cNvPicPr>
            <a:picLocks noChangeAspect="1"/>
          </p:cNvPicPr>
          <p:nvPr/>
        </p:nvPicPr>
        <p:blipFill>
          <a:blip r:embed="rId3"/>
          <a:stretch>
            <a:fillRect/>
          </a:stretch>
        </p:blipFill>
        <p:spPr>
          <a:xfrm>
            <a:off x="5321808" y="3721608"/>
            <a:ext cx="420624" cy="420624"/>
          </a:xfrm>
          <a:prstGeom prst="rect">
            <a:avLst/>
          </a:prstGeom>
        </p:spPr>
      </p:pic>
      <p:sp>
        <p:nvSpPr>
          <p:cNvPr id="24" name="Text 19"/>
          <p:cNvSpPr/>
          <p:nvPr/>
        </p:nvSpPr>
        <p:spPr>
          <a:xfrm>
            <a:off x="5943600" y="3566160"/>
            <a:ext cx="2377440" cy="411480"/>
          </a:xfrm>
          <a:prstGeom prst="rect">
            <a:avLst/>
          </a:prstGeom>
          <a:noFill/>
          <a:ln/>
        </p:spPr>
        <p:txBody>
          <a:bodyPr wrap="square" lIns="0" tIns="0" rIns="0" bIns="0" rtlCol="0" anchor="ctr"/>
          <a:lstStyle/>
          <a:p>
            <a:pPr indent="0" marL="0">
              <a:buNone/>
            </a:pPr>
            <a:r>
              <a:rPr lang="en-US" sz="1400" b="1" dirty="0">
                <a:solidFill>
                  <a:srgbClr val="F1F5F9"/>
                </a:solidFill>
                <a:latin typeface="Calibri" pitchFamily="34" charset="0"/>
                <a:ea typeface="Calibri" pitchFamily="34" charset="-122"/>
                <a:cs typeface="Calibri" pitchFamily="34" charset="-120"/>
              </a:rPr>
              <a:t>Mantener identidad</a:t>
            </a:r>
            <a:endParaRPr lang="en-US" sz="1400" dirty="0"/>
          </a:p>
        </p:txBody>
      </p:sp>
      <p:sp>
        <p:nvSpPr>
          <p:cNvPr id="25" name="Text 20"/>
          <p:cNvSpPr/>
          <p:nvPr/>
        </p:nvSpPr>
        <p:spPr>
          <a:xfrm>
            <a:off x="5943600" y="3977640"/>
            <a:ext cx="2377440" cy="640080"/>
          </a:xfrm>
          <a:prstGeom prst="rect">
            <a:avLst/>
          </a:prstGeom>
          <a:noFill/>
          <a:ln/>
        </p:spPr>
        <p:txBody>
          <a:bodyPr wrap="square" lIns="0" tIns="0" rIns="0" bIns="0" rtlCol="0" anchor="t"/>
          <a:lstStyle/>
          <a:p>
            <a:pPr indent="0" marL="0">
              <a:buNone/>
            </a:pPr>
            <a:r>
              <a:rPr lang="en-US" sz="1100" dirty="0">
                <a:solidFill>
                  <a:srgbClr val="94A3B8"/>
                </a:solidFill>
                <a:latin typeface="Calibri" pitchFamily="34" charset="0"/>
                <a:ea typeface="Calibri" pitchFamily="34" charset="-122"/>
                <a:cs typeface="Calibri" pitchFamily="34" charset="-120"/>
              </a:rPr>
              <a:t>Tracking estable entre frames</a:t>
            </a:r>
            <a:endParaRPr lang="en-US" sz="1100" dirty="0"/>
          </a:p>
        </p:txBody>
      </p:sp>
      <p:sp>
        <p:nvSpPr>
          <p:cNvPr id="26" name="Shape 21"/>
          <p:cNvSpPr/>
          <p:nvPr/>
        </p:nvSpPr>
        <p:spPr>
          <a:xfrm>
            <a:off x="8549640" y="3383280"/>
            <a:ext cx="3383280" cy="1371600"/>
          </a:xfrm>
          <a:prstGeom prst="rect">
            <a:avLst/>
          </a:prstGeom>
          <a:solidFill>
            <a:srgbClr val="1B2A41"/>
          </a:solidFill>
          <a:ln/>
        </p:spPr>
      </p:sp>
      <p:sp>
        <p:nvSpPr>
          <p:cNvPr id="27" name="Shape 22"/>
          <p:cNvSpPr/>
          <p:nvPr/>
        </p:nvSpPr>
        <p:spPr>
          <a:xfrm>
            <a:off x="8732520" y="3611880"/>
            <a:ext cx="640080" cy="640080"/>
          </a:xfrm>
          <a:prstGeom prst="ellipse">
            <a:avLst/>
          </a:prstGeom>
          <a:solidFill>
            <a:srgbClr val="243A5E"/>
          </a:solidFill>
          <a:ln w="12700">
            <a:solidFill>
              <a:srgbClr val="00D4FF"/>
            </a:solidFill>
            <a:prstDash val="solid"/>
          </a:ln>
        </p:spPr>
      </p:sp>
      <p:pic>
        <p:nvPicPr>
          <p:cNvPr id="28" name="Image 3" descr="preencoded.png">    </p:cNvPr>
          <p:cNvPicPr>
            <a:picLocks noChangeAspect="1"/>
          </p:cNvPicPr>
          <p:nvPr/>
        </p:nvPicPr>
        <p:blipFill>
          <a:blip r:embed="rId4"/>
          <a:stretch>
            <a:fillRect/>
          </a:stretch>
        </p:blipFill>
        <p:spPr>
          <a:xfrm>
            <a:off x="8842248" y="3721608"/>
            <a:ext cx="420624" cy="420624"/>
          </a:xfrm>
          <a:prstGeom prst="rect">
            <a:avLst/>
          </a:prstGeom>
        </p:spPr>
      </p:pic>
      <p:sp>
        <p:nvSpPr>
          <p:cNvPr id="29" name="Text 23"/>
          <p:cNvSpPr/>
          <p:nvPr/>
        </p:nvSpPr>
        <p:spPr>
          <a:xfrm>
            <a:off x="9464040" y="3566160"/>
            <a:ext cx="2377440" cy="411480"/>
          </a:xfrm>
          <a:prstGeom prst="rect">
            <a:avLst/>
          </a:prstGeom>
          <a:noFill/>
          <a:ln/>
        </p:spPr>
        <p:txBody>
          <a:bodyPr wrap="square" lIns="0" tIns="0" rIns="0" bIns="0" rtlCol="0" anchor="ctr"/>
          <a:lstStyle/>
          <a:p>
            <a:pPr indent="0" marL="0">
              <a:buNone/>
            </a:pPr>
            <a:r>
              <a:rPr lang="en-US" sz="1400" b="1" dirty="0">
                <a:solidFill>
                  <a:srgbClr val="F1F5F9"/>
                </a:solidFill>
                <a:latin typeface="Calibri" pitchFamily="34" charset="0"/>
                <a:ea typeface="Calibri" pitchFamily="34" charset="-122"/>
                <a:cs typeface="Calibri" pitchFamily="34" charset="-120"/>
              </a:rPr>
              <a:t>Seguir el balón</a:t>
            </a:r>
            <a:endParaRPr lang="en-US" sz="1400" dirty="0"/>
          </a:p>
        </p:txBody>
      </p:sp>
      <p:sp>
        <p:nvSpPr>
          <p:cNvPr id="30" name="Text 24"/>
          <p:cNvSpPr/>
          <p:nvPr/>
        </p:nvSpPr>
        <p:spPr>
          <a:xfrm>
            <a:off x="9464040" y="3977640"/>
            <a:ext cx="2377440" cy="640080"/>
          </a:xfrm>
          <a:prstGeom prst="rect">
            <a:avLst/>
          </a:prstGeom>
          <a:noFill/>
          <a:ln/>
        </p:spPr>
        <p:txBody>
          <a:bodyPr wrap="square" lIns="0" tIns="0" rIns="0" bIns="0" rtlCol="0" anchor="t"/>
          <a:lstStyle/>
          <a:p>
            <a:pPr indent="0" marL="0">
              <a:buNone/>
            </a:pPr>
            <a:r>
              <a:rPr lang="en-US" sz="1100" dirty="0">
                <a:solidFill>
                  <a:srgbClr val="94A3B8"/>
                </a:solidFill>
                <a:latin typeface="Calibri" pitchFamily="34" charset="0"/>
                <a:ea typeface="Calibri" pitchFamily="34" charset="-122"/>
                <a:cs typeface="Calibri" pitchFamily="34" charset="-120"/>
              </a:rPr>
              <a:t>Cuando sea visible</a:t>
            </a:r>
            <a:endParaRPr lang="en-US" sz="1100" dirty="0"/>
          </a:p>
        </p:txBody>
      </p:sp>
      <p:sp>
        <p:nvSpPr>
          <p:cNvPr id="31" name="Shape 25"/>
          <p:cNvSpPr/>
          <p:nvPr/>
        </p:nvSpPr>
        <p:spPr>
          <a:xfrm>
            <a:off x="5029200" y="4892040"/>
            <a:ext cx="3383280" cy="1371600"/>
          </a:xfrm>
          <a:prstGeom prst="rect">
            <a:avLst/>
          </a:prstGeom>
          <a:solidFill>
            <a:srgbClr val="1B2A41"/>
          </a:solidFill>
          <a:ln/>
        </p:spPr>
      </p:sp>
      <p:sp>
        <p:nvSpPr>
          <p:cNvPr id="32" name="Shape 26"/>
          <p:cNvSpPr/>
          <p:nvPr/>
        </p:nvSpPr>
        <p:spPr>
          <a:xfrm>
            <a:off x="5212080" y="5120640"/>
            <a:ext cx="640080" cy="640080"/>
          </a:xfrm>
          <a:prstGeom prst="ellipse">
            <a:avLst/>
          </a:prstGeom>
          <a:solidFill>
            <a:srgbClr val="243A5E"/>
          </a:solidFill>
          <a:ln w="12700">
            <a:solidFill>
              <a:srgbClr val="00D4FF"/>
            </a:solidFill>
            <a:prstDash val="solid"/>
          </a:ln>
        </p:spPr>
      </p:sp>
      <p:pic>
        <p:nvPicPr>
          <p:cNvPr id="33" name="Image 4" descr="preencoded.png">    </p:cNvPr>
          <p:cNvPicPr>
            <a:picLocks noChangeAspect="1"/>
          </p:cNvPicPr>
          <p:nvPr/>
        </p:nvPicPr>
        <p:blipFill>
          <a:blip r:embed="rId5"/>
          <a:stretch>
            <a:fillRect/>
          </a:stretch>
        </p:blipFill>
        <p:spPr>
          <a:xfrm>
            <a:off x="5321808" y="5230368"/>
            <a:ext cx="420624" cy="420624"/>
          </a:xfrm>
          <a:prstGeom prst="rect">
            <a:avLst/>
          </a:prstGeom>
        </p:spPr>
      </p:pic>
      <p:sp>
        <p:nvSpPr>
          <p:cNvPr id="34" name="Text 27"/>
          <p:cNvSpPr/>
          <p:nvPr/>
        </p:nvSpPr>
        <p:spPr>
          <a:xfrm>
            <a:off x="5943600" y="5074920"/>
            <a:ext cx="2377440" cy="411480"/>
          </a:xfrm>
          <a:prstGeom prst="rect">
            <a:avLst/>
          </a:prstGeom>
          <a:noFill/>
          <a:ln/>
        </p:spPr>
        <p:txBody>
          <a:bodyPr wrap="square" lIns="0" tIns="0" rIns="0" bIns="0" rtlCol="0" anchor="ctr"/>
          <a:lstStyle/>
          <a:p>
            <a:pPr indent="0" marL="0">
              <a:buNone/>
            </a:pPr>
            <a:r>
              <a:rPr lang="en-US" sz="1400" b="1" dirty="0">
                <a:solidFill>
                  <a:srgbClr val="F1F5F9"/>
                </a:solidFill>
                <a:latin typeface="Calibri" pitchFamily="34" charset="0"/>
                <a:ea typeface="Calibri" pitchFamily="34" charset="-122"/>
                <a:cs typeface="Calibri" pitchFamily="34" charset="-120"/>
              </a:rPr>
              <a:t>Mapa de calor 2D</a:t>
            </a:r>
            <a:endParaRPr lang="en-US" sz="1400" dirty="0"/>
          </a:p>
        </p:txBody>
      </p:sp>
      <p:sp>
        <p:nvSpPr>
          <p:cNvPr id="35" name="Text 28"/>
          <p:cNvSpPr/>
          <p:nvPr/>
        </p:nvSpPr>
        <p:spPr>
          <a:xfrm>
            <a:off x="5943600" y="5486400"/>
            <a:ext cx="2377440" cy="640080"/>
          </a:xfrm>
          <a:prstGeom prst="rect">
            <a:avLst/>
          </a:prstGeom>
          <a:noFill/>
          <a:ln/>
        </p:spPr>
        <p:txBody>
          <a:bodyPr wrap="square" lIns="0" tIns="0" rIns="0" bIns="0" rtlCol="0" anchor="t"/>
          <a:lstStyle/>
          <a:p>
            <a:pPr indent="0" marL="0">
              <a:buNone/>
            </a:pPr>
            <a:r>
              <a:rPr lang="en-US" sz="1100" dirty="0">
                <a:solidFill>
                  <a:srgbClr val="94A3B8"/>
                </a:solidFill>
                <a:latin typeface="Calibri" pitchFamily="34" charset="0"/>
                <a:ea typeface="Calibri" pitchFamily="34" charset="-122"/>
                <a:cs typeface="Calibri" pitchFamily="34" charset="-120"/>
              </a:rPr>
              <a:t>Vista cenital del campo</a:t>
            </a:r>
            <a:endParaRPr lang="en-US" sz="1100" dirty="0"/>
          </a:p>
        </p:txBody>
      </p:sp>
      <p:sp>
        <p:nvSpPr>
          <p:cNvPr id="36" name="Shape 29"/>
          <p:cNvSpPr/>
          <p:nvPr/>
        </p:nvSpPr>
        <p:spPr>
          <a:xfrm>
            <a:off x="8549640" y="4892040"/>
            <a:ext cx="3383280" cy="1371600"/>
          </a:xfrm>
          <a:prstGeom prst="rect">
            <a:avLst/>
          </a:prstGeom>
          <a:solidFill>
            <a:srgbClr val="1B2A41"/>
          </a:solidFill>
          <a:ln/>
        </p:spPr>
      </p:sp>
      <p:sp>
        <p:nvSpPr>
          <p:cNvPr id="37" name="Shape 30"/>
          <p:cNvSpPr/>
          <p:nvPr/>
        </p:nvSpPr>
        <p:spPr>
          <a:xfrm>
            <a:off x="8732520" y="5120640"/>
            <a:ext cx="640080" cy="640080"/>
          </a:xfrm>
          <a:prstGeom prst="ellipse">
            <a:avLst/>
          </a:prstGeom>
          <a:solidFill>
            <a:srgbClr val="243A5E"/>
          </a:solidFill>
          <a:ln w="12700">
            <a:solidFill>
              <a:srgbClr val="00D4FF"/>
            </a:solidFill>
            <a:prstDash val="solid"/>
          </a:ln>
        </p:spPr>
      </p:sp>
      <p:pic>
        <p:nvPicPr>
          <p:cNvPr id="38" name="Image 5" descr="preencoded.png">    </p:cNvPr>
          <p:cNvPicPr>
            <a:picLocks noChangeAspect="1"/>
          </p:cNvPicPr>
          <p:nvPr/>
        </p:nvPicPr>
        <p:blipFill>
          <a:blip r:embed="rId6"/>
          <a:stretch>
            <a:fillRect/>
          </a:stretch>
        </p:blipFill>
        <p:spPr>
          <a:xfrm>
            <a:off x="8842248" y="5230368"/>
            <a:ext cx="420624" cy="420624"/>
          </a:xfrm>
          <a:prstGeom prst="rect">
            <a:avLst/>
          </a:prstGeom>
        </p:spPr>
      </p:pic>
      <p:sp>
        <p:nvSpPr>
          <p:cNvPr id="39" name="Text 31"/>
          <p:cNvSpPr/>
          <p:nvPr/>
        </p:nvSpPr>
        <p:spPr>
          <a:xfrm>
            <a:off x="9464040" y="5074920"/>
            <a:ext cx="2377440" cy="411480"/>
          </a:xfrm>
          <a:prstGeom prst="rect">
            <a:avLst/>
          </a:prstGeom>
          <a:noFill/>
          <a:ln/>
        </p:spPr>
        <p:txBody>
          <a:bodyPr wrap="square" lIns="0" tIns="0" rIns="0" bIns="0" rtlCol="0" anchor="ctr"/>
          <a:lstStyle/>
          <a:p>
            <a:pPr indent="0" marL="0">
              <a:buNone/>
            </a:pPr>
            <a:r>
              <a:rPr lang="en-US" sz="1400" b="1" dirty="0">
                <a:solidFill>
                  <a:srgbClr val="F1F5F9"/>
                </a:solidFill>
                <a:latin typeface="Calibri" pitchFamily="34" charset="0"/>
                <a:ea typeface="Calibri" pitchFamily="34" charset="-122"/>
                <a:cs typeface="Calibri" pitchFamily="34" charset="-120"/>
              </a:rPr>
              <a:t>Mapa de calor 3D</a:t>
            </a:r>
            <a:endParaRPr lang="en-US" sz="1400" dirty="0"/>
          </a:p>
        </p:txBody>
      </p:sp>
      <p:sp>
        <p:nvSpPr>
          <p:cNvPr id="40" name="Text 32"/>
          <p:cNvSpPr/>
          <p:nvPr/>
        </p:nvSpPr>
        <p:spPr>
          <a:xfrm>
            <a:off x="9464040" y="5486400"/>
            <a:ext cx="2377440" cy="640080"/>
          </a:xfrm>
          <a:prstGeom prst="rect">
            <a:avLst/>
          </a:prstGeom>
          <a:noFill/>
          <a:ln/>
        </p:spPr>
        <p:txBody>
          <a:bodyPr wrap="square" lIns="0" tIns="0" rIns="0" bIns="0" rtlCol="0" anchor="t"/>
          <a:lstStyle/>
          <a:p>
            <a:pPr indent="0" marL="0">
              <a:buNone/>
            </a:pPr>
            <a:r>
              <a:rPr lang="en-US" sz="1100" dirty="0">
                <a:solidFill>
                  <a:srgbClr val="94A3B8"/>
                </a:solidFill>
                <a:latin typeface="Calibri" pitchFamily="34" charset="0"/>
                <a:ea typeface="Calibri" pitchFamily="34" charset="-122"/>
                <a:cs typeface="Calibri" pitchFamily="34" charset="-120"/>
              </a:rPr>
              <a:t>Densidad como superficie</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713232" y="292608"/>
            <a:ext cx="4572000" cy="274320"/>
          </a:xfrm>
          <a:prstGeom prst="rect">
            <a:avLst/>
          </a:prstGeom>
          <a:noFill/>
          <a:ln/>
        </p:spPr>
        <p:txBody>
          <a:bodyPr wrap="square" lIns="0" tIns="0" rIns="0" bIns="0" rtlCol="0" anchor="ctr"/>
          <a:lstStyle/>
          <a:p>
            <a:pPr indent="0" marL="0">
              <a:buNone/>
            </a:pPr>
            <a:r>
              <a:rPr lang="en-US" sz="1000" b="1" spc="400" kern="0" dirty="0">
                <a:solidFill>
                  <a:srgbClr val="00D4FF"/>
                </a:solidFill>
                <a:latin typeface="Calibri" pitchFamily="34" charset="0"/>
                <a:ea typeface="Calibri" pitchFamily="34" charset="-122"/>
                <a:cs typeface="Calibri" pitchFamily="34" charset="-120"/>
              </a:rPr>
              <a:t>VISIÓN ARTIFICIAL · UPV</a:t>
            </a:r>
            <a:endParaRPr lang="en-US" sz="1000" dirty="0"/>
          </a:p>
        </p:txBody>
      </p:sp>
      <p:sp>
        <p:nvSpPr>
          <p:cNvPr id="3" name="Text 1"/>
          <p:cNvSpPr/>
          <p:nvPr/>
        </p:nvSpPr>
        <p:spPr>
          <a:xfrm>
            <a:off x="548640" y="594360"/>
            <a:ext cx="10058400" cy="731520"/>
          </a:xfrm>
          <a:prstGeom prst="rect">
            <a:avLst/>
          </a:prstGeom>
          <a:noFill/>
          <a:ln/>
        </p:spPr>
        <p:txBody>
          <a:bodyPr wrap="square" lIns="0" tIns="0" rIns="0" bIns="0" rtlCol="0" anchor="ctr"/>
          <a:lstStyle/>
          <a:p>
            <a:pPr indent="0" marL="0">
              <a:buNone/>
            </a:pPr>
            <a:r>
              <a:rPr lang="en-US" sz="3200" b="1" dirty="0">
                <a:solidFill>
                  <a:srgbClr val="F1F5F9"/>
                </a:solidFill>
                <a:latin typeface="Calibri" pitchFamily="34" charset="0"/>
                <a:ea typeface="Calibri" pitchFamily="34" charset="-122"/>
                <a:cs typeface="Calibri" pitchFamily="34" charset="-120"/>
              </a:rPr>
              <a:t>Stack tecnológico</a:t>
            </a:r>
            <a:endParaRPr lang="en-US" sz="3200" dirty="0"/>
          </a:p>
        </p:txBody>
      </p:sp>
      <p:sp>
        <p:nvSpPr>
          <p:cNvPr id="4" name="Text 2"/>
          <p:cNvSpPr/>
          <p:nvPr/>
        </p:nvSpPr>
        <p:spPr>
          <a:xfrm>
            <a:off x="548640" y="1280160"/>
            <a:ext cx="10058400" cy="365760"/>
          </a:xfrm>
          <a:prstGeom prst="rect">
            <a:avLst/>
          </a:prstGeom>
          <a:noFill/>
          <a:ln/>
        </p:spPr>
        <p:txBody>
          <a:bodyPr wrap="square" lIns="0" tIns="0" rIns="0" bIns="0" rtlCol="0" anchor="ctr"/>
          <a:lstStyle/>
          <a:p>
            <a:pPr indent="0" marL="0">
              <a:buNone/>
            </a:pPr>
            <a:r>
              <a:rPr lang="en-US" sz="1400" i="1" dirty="0">
                <a:solidFill>
                  <a:srgbClr val="94A3B8"/>
                </a:solidFill>
                <a:latin typeface="Calibri" pitchFamily="34" charset="0"/>
                <a:ea typeface="Calibri" pitchFamily="34" charset="-122"/>
                <a:cs typeface="Calibri" pitchFamily="34" charset="-120"/>
              </a:rPr>
              <a:t>Sólo herramientas estándar de Python, todas open source</a:t>
            </a:r>
            <a:endParaRPr lang="en-US" sz="1400" dirty="0"/>
          </a:p>
        </p:txBody>
      </p:sp>
      <p:sp>
        <p:nvSpPr>
          <p:cNvPr id="5" name="Text 3"/>
          <p:cNvSpPr/>
          <p:nvPr/>
        </p:nvSpPr>
        <p:spPr>
          <a:xfrm>
            <a:off x="11155680" y="6446520"/>
            <a:ext cx="640080" cy="274320"/>
          </a:xfrm>
          <a:prstGeom prst="rect">
            <a:avLst/>
          </a:prstGeom>
          <a:noFill/>
          <a:ln/>
        </p:spPr>
        <p:txBody>
          <a:bodyPr wrap="square" lIns="0" tIns="0" rIns="0" bIns="0" rtlCol="0" anchor="ctr"/>
          <a:lstStyle/>
          <a:p>
            <a:pPr algn="r" indent="0" marL="0">
              <a:buNone/>
            </a:pPr>
            <a:r>
              <a:rPr lang="en-US" sz="1000" dirty="0">
                <a:solidFill>
                  <a:srgbClr val="94A3B8"/>
                </a:solidFill>
                <a:latin typeface="Consolas" pitchFamily="34" charset="0"/>
                <a:ea typeface="Consolas" pitchFamily="34" charset="-122"/>
                <a:cs typeface="Consolas" pitchFamily="34" charset="-120"/>
              </a:rPr>
              <a:t>3 / 9</a:t>
            </a:r>
            <a:endParaRPr lang="en-US" sz="1000" dirty="0"/>
          </a:p>
        </p:txBody>
      </p:sp>
      <p:sp>
        <p:nvSpPr>
          <p:cNvPr id="6" name="Shape 4"/>
          <p:cNvSpPr/>
          <p:nvPr/>
        </p:nvSpPr>
        <p:spPr>
          <a:xfrm>
            <a:off x="548640" y="320040"/>
            <a:ext cx="45720" cy="164592"/>
          </a:xfrm>
          <a:prstGeom prst="rect">
            <a:avLst/>
          </a:prstGeom>
          <a:solidFill>
            <a:srgbClr val="00D4FF"/>
          </a:solidFill>
          <a:ln/>
        </p:spPr>
      </p:sp>
      <p:sp>
        <p:nvSpPr>
          <p:cNvPr id="7" name="Shape 5"/>
          <p:cNvSpPr/>
          <p:nvPr/>
        </p:nvSpPr>
        <p:spPr>
          <a:xfrm>
            <a:off x="548640" y="1828800"/>
            <a:ext cx="5486400" cy="960120"/>
          </a:xfrm>
          <a:prstGeom prst="rect">
            <a:avLst/>
          </a:prstGeom>
          <a:solidFill>
            <a:srgbClr val="1B2A41"/>
          </a:solidFill>
          <a:ln/>
        </p:spPr>
      </p:sp>
      <p:sp>
        <p:nvSpPr>
          <p:cNvPr id="8" name="Shape 6"/>
          <p:cNvSpPr/>
          <p:nvPr/>
        </p:nvSpPr>
        <p:spPr>
          <a:xfrm>
            <a:off x="548640" y="1828800"/>
            <a:ext cx="73152" cy="960120"/>
          </a:xfrm>
          <a:prstGeom prst="rect">
            <a:avLst/>
          </a:prstGeom>
          <a:solidFill>
            <a:srgbClr val="00FF87"/>
          </a:solidFill>
          <a:ln/>
        </p:spPr>
      </p:sp>
      <p:pic>
        <p:nvPicPr>
          <p:cNvPr id="9" name="Image 0" descr="preencoded.png">    </p:cNvPr>
          <p:cNvPicPr>
            <a:picLocks noChangeAspect="1"/>
          </p:cNvPicPr>
          <p:nvPr/>
        </p:nvPicPr>
        <p:blipFill>
          <a:blip r:embed="rId1"/>
          <a:stretch>
            <a:fillRect/>
          </a:stretch>
        </p:blipFill>
        <p:spPr>
          <a:xfrm>
            <a:off x="868680" y="2057400"/>
            <a:ext cx="502920" cy="502920"/>
          </a:xfrm>
          <a:prstGeom prst="rect">
            <a:avLst/>
          </a:prstGeom>
        </p:spPr>
      </p:pic>
      <p:sp>
        <p:nvSpPr>
          <p:cNvPr id="10" name="Text 7"/>
          <p:cNvSpPr/>
          <p:nvPr/>
        </p:nvSpPr>
        <p:spPr>
          <a:xfrm>
            <a:off x="1508760" y="1938528"/>
            <a:ext cx="4389120" cy="365760"/>
          </a:xfrm>
          <a:prstGeom prst="rect">
            <a:avLst/>
          </a:prstGeom>
          <a:noFill/>
          <a:ln/>
        </p:spPr>
        <p:txBody>
          <a:bodyPr wrap="square" lIns="0" tIns="0" rIns="0" bIns="0" rtlCol="0" anchor="ctr"/>
          <a:lstStyle/>
          <a:p>
            <a:pPr indent="0" marL="0">
              <a:buNone/>
            </a:pPr>
            <a:r>
              <a:rPr lang="en-US" sz="1600" b="1" dirty="0">
                <a:solidFill>
                  <a:srgbClr val="F1F5F9"/>
                </a:solidFill>
                <a:latin typeface="Calibri" pitchFamily="34" charset="0"/>
                <a:ea typeface="Calibri" pitchFamily="34" charset="-122"/>
                <a:cs typeface="Calibri" pitchFamily="34" charset="-120"/>
              </a:rPr>
              <a:t>Python 3.10+</a:t>
            </a:r>
            <a:endParaRPr lang="en-US" sz="1600" dirty="0"/>
          </a:p>
        </p:txBody>
      </p:sp>
      <p:sp>
        <p:nvSpPr>
          <p:cNvPr id="11" name="Text 8"/>
          <p:cNvSpPr/>
          <p:nvPr/>
        </p:nvSpPr>
        <p:spPr>
          <a:xfrm>
            <a:off x="1508760" y="2286000"/>
            <a:ext cx="4389120" cy="457200"/>
          </a:xfrm>
          <a:prstGeom prst="rect">
            <a:avLst/>
          </a:prstGeom>
          <a:noFill/>
          <a:ln/>
        </p:spPr>
        <p:txBody>
          <a:bodyPr wrap="square" lIns="0" tIns="0" rIns="0" bIns="0" rtlCol="0" anchor="t"/>
          <a:lstStyle/>
          <a:p>
            <a:pPr indent="0" marL="0">
              <a:buNone/>
            </a:pPr>
            <a:r>
              <a:rPr lang="en-US" sz="1200" dirty="0">
                <a:solidFill>
                  <a:srgbClr val="94A3B8"/>
                </a:solidFill>
                <a:latin typeface="Calibri" pitchFamily="34" charset="0"/>
                <a:ea typeface="Calibri" pitchFamily="34" charset="-122"/>
                <a:cs typeface="Calibri" pitchFamily="34" charset="-120"/>
              </a:rPr>
              <a:t>Lenguaje del proyecto</a:t>
            </a:r>
            <a:endParaRPr lang="en-US" sz="1200" dirty="0"/>
          </a:p>
        </p:txBody>
      </p:sp>
      <p:sp>
        <p:nvSpPr>
          <p:cNvPr id="12" name="Shape 9"/>
          <p:cNvSpPr/>
          <p:nvPr/>
        </p:nvSpPr>
        <p:spPr>
          <a:xfrm>
            <a:off x="6199632" y="1828800"/>
            <a:ext cx="5486400" cy="960120"/>
          </a:xfrm>
          <a:prstGeom prst="rect">
            <a:avLst/>
          </a:prstGeom>
          <a:solidFill>
            <a:srgbClr val="1B2A41"/>
          </a:solidFill>
          <a:ln/>
        </p:spPr>
      </p:sp>
      <p:sp>
        <p:nvSpPr>
          <p:cNvPr id="13" name="Shape 10"/>
          <p:cNvSpPr/>
          <p:nvPr/>
        </p:nvSpPr>
        <p:spPr>
          <a:xfrm>
            <a:off x="6199632" y="1828800"/>
            <a:ext cx="73152" cy="960120"/>
          </a:xfrm>
          <a:prstGeom prst="rect">
            <a:avLst/>
          </a:prstGeom>
          <a:solidFill>
            <a:srgbClr val="00FF87"/>
          </a:solidFill>
          <a:ln/>
        </p:spPr>
      </p:sp>
      <p:pic>
        <p:nvPicPr>
          <p:cNvPr id="14" name="Image 1" descr="preencoded.png">    </p:cNvPr>
          <p:cNvPicPr>
            <a:picLocks noChangeAspect="1"/>
          </p:cNvPicPr>
          <p:nvPr/>
        </p:nvPicPr>
        <p:blipFill>
          <a:blip r:embed="rId2"/>
          <a:stretch>
            <a:fillRect/>
          </a:stretch>
        </p:blipFill>
        <p:spPr>
          <a:xfrm>
            <a:off x="6519672" y="2057400"/>
            <a:ext cx="502920" cy="502920"/>
          </a:xfrm>
          <a:prstGeom prst="rect">
            <a:avLst/>
          </a:prstGeom>
        </p:spPr>
      </p:pic>
      <p:sp>
        <p:nvSpPr>
          <p:cNvPr id="15" name="Text 11"/>
          <p:cNvSpPr/>
          <p:nvPr/>
        </p:nvSpPr>
        <p:spPr>
          <a:xfrm>
            <a:off x="7159752" y="1938528"/>
            <a:ext cx="4389120" cy="365760"/>
          </a:xfrm>
          <a:prstGeom prst="rect">
            <a:avLst/>
          </a:prstGeom>
          <a:noFill/>
          <a:ln/>
        </p:spPr>
        <p:txBody>
          <a:bodyPr wrap="square" lIns="0" tIns="0" rIns="0" bIns="0" rtlCol="0" anchor="ctr"/>
          <a:lstStyle/>
          <a:p>
            <a:pPr indent="0" marL="0">
              <a:buNone/>
            </a:pPr>
            <a:r>
              <a:rPr lang="en-US" sz="1600" b="1" dirty="0">
                <a:solidFill>
                  <a:srgbClr val="F1F5F9"/>
                </a:solidFill>
                <a:latin typeface="Calibri" pitchFamily="34" charset="0"/>
                <a:ea typeface="Calibri" pitchFamily="34" charset="-122"/>
                <a:cs typeface="Calibri" pitchFamily="34" charset="-120"/>
              </a:rPr>
              <a:t>YOLOv8 (Ultralytics)</a:t>
            </a:r>
            <a:endParaRPr lang="en-US" sz="1600" dirty="0"/>
          </a:p>
        </p:txBody>
      </p:sp>
      <p:sp>
        <p:nvSpPr>
          <p:cNvPr id="16" name="Text 12"/>
          <p:cNvSpPr/>
          <p:nvPr/>
        </p:nvSpPr>
        <p:spPr>
          <a:xfrm>
            <a:off x="7159752" y="2286000"/>
            <a:ext cx="4389120" cy="457200"/>
          </a:xfrm>
          <a:prstGeom prst="rect">
            <a:avLst/>
          </a:prstGeom>
          <a:noFill/>
          <a:ln/>
        </p:spPr>
        <p:txBody>
          <a:bodyPr wrap="square" lIns="0" tIns="0" rIns="0" bIns="0" rtlCol="0" anchor="t"/>
          <a:lstStyle/>
          <a:p>
            <a:pPr indent="0" marL="0">
              <a:buNone/>
            </a:pPr>
            <a:r>
              <a:rPr lang="en-US" sz="1200" dirty="0">
                <a:solidFill>
                  <a:srgbClr val="94A3B8"/>
                </a:solidFill>
                <a:latin typeface="Calibri" pitchFamily="34" charset="0"/>
                <a:ea typeface="Calibri" pitchFamily="34" charset="-122"/>
                <a:cs typeface="Calibri" pitchFamily="34" charset="-120"/>
              </a:rPr>
              <a:t>Detección de personas y balón en un solo paso</a:t>
            </a:r>
            <a:endParaRPr lang="en-US" sz="1200" dirty="0"/>
          </a:p>
        </p:txBody>
      </p:sp>
      <p:sp>
        <p:nvSpPr>
          <p:cNvPr id="17" name="Shape 13"/>
          <p:cNvSpPr/>
          <p:nvPr/>
        </p:nvSpPr>
        <p:spPr>
          <a:xfrm>
            <a:off x="548640" y="2953512"/>
            <a:ext cx="5486400" cy="960120"/>
          </a:xfrm>
          <a:prstGeom prst="rect">
            <a:avLst/>
          </a:prstGeom>
          <a:solidFill>
            <a:srgbClr val="1B2A41"/>
          </a:solidFill>
          <a:ln/>
        </p:spPr>
      </p:sp>
      <p:sp>
        <p:nvSpPr>
          <p:cNvPr id="18" name="Shape 14"/>
          <p:cNvSpPr/>
          <p:nvPr/>
        </p:nvSpPr>
        <p:spPr>
          <a:xfrm>
            <a:off x="548640" y="2953512"/>
            <a:ext cx="73152" cy="960120"/>
          </a:xfrm>
          <a:prstGeom prst="rect">
            <a:avLst/>
          </a:prstGeom>
          <a:solidFill>
            <a:srgbClr val="00FF87"/>
          </a:solidFill>
          <a:ln/>
        </p:spPr>
      </p:sp>
      <p:pic>
        <p:nvPicPr>
          <p:cNvPr id="19" name="Image 2" descr="preencoded.png">    </p:cNvPr>
          <p:cNvPicPr>
            <a:picLocks noChangeAspect="1"/>
          </p:cNvPicPr>
          <p:nvPr/>
        </p:nvPicPr>
        <p:blipFill>
          <a:blip r:embed="rId3"/>
          <a:stretch>
            <a:fillRect/>
          </a:stretch>
        </p:blipFill>
        <p:spPr>
          <a:xfrm>
            <a:off x="868680" y="3182112"/>
            <a:ext cx="502920" cy="502920"/>
          </a:xfrm>
          <a:prstGeom prst="rect">
            <a:avLst/>
          </a:prstGeom>
        </p:spPr>
      </p:pic>
      <p:sp>
        <p:nvSpPr>
          <p:cNvPr id="20" name="Text 15"/>
          <p:cNvSpPr/>
          <p:nvPr/>
        </p:nvSpPr>
        <p:spPr>
          <a:xfrm>
            <a:off x="1508760" y="3063240"/>
            <a:ext cx="4389120" cy="365760"/>
          </a:xfrm>
          <a:prstGeom prst="rect">
            <a:avLst/>
          </a:prstGeom>
          <a:noFill/>
          <a:ln/>
        </p:spPr>
        <p:txBody>
          <a:bodyPr wrap="square" lIns="0" tIns="0" rIns="0" bIns="0" rtlCol="0" anchor="ctr"/>
          <a:lstStyle/>
          <a:p>
            <a:pPr indent="0" marL="0">
              <a:buNone/>
            </a:pPr>
            <a:r>
              <a:rPr lang="en-US" sz="1600" b="1" dirty="0">
                <a:solidFill>
                  <a:srgbClr val="F1F5F9"/>
                </a:solidFill>
                <a:latin typeface="Calibri" pitchFamily="34" charset="0"/>
                <a:ea typeface="Calibri" pitchFamily="34" charset="-122"/>
                <a:cs typeface="Calibri" pitchFamily="34" charset="-120"/>
              </a:rPr>
              <a:t>OpenCV</a:t>
            </a:r>
            <a:endParaRPr lang="en-US" sz="1600" dirty="0"/>
          </a:p>
        </p:txBody>
      </p:sp>
      <p:sp>
        <p:nvSpPr>
          <p:cNvPr id="21" name="Text 16"/>
          <p:cNvSpPr/>
          <p:nvPr/>
        </p:nvSpPr>
        <p:spPr>
          <a:xfrm>
            <a:off x="1508760" y="3410712"/>
            <a:ext cx="4389120" cy="457200"/>
          </a:xfrm>
          <a:prstGeom prst="rect">
            <a:avLst/>
          </a:prstGeom>
          <a:noFill/>
          <a:ln/>
        </p:spPr>
        <p:txBody>
          <a:bodyPr wrap="square" lIns="0" tIns="0" rIns="0" bIns="0" rtlCol="0" anchor="t"/>
          <a:lstStyle/>
          <a:p>
            <a:pPr indent="0" marL="0">
              <a:buNone/>
            </a:pPr>
            <a:r>
              <a:rPr lang="en-US" sz="1200" dirty="0">
                <a:solidFill>
                  <a:srgbClr val="94A3B8"/>
                </a:solidFill>
                <a:latin typeface="Calibri" pitchFamily="34" charset="0"/>
                <a:ea typeface="Calibri" pitchFamily="34" charset="-122"/>
                <a:cs typeface="Calibri" pitchFamily="34" charset="-120"/>
              </a:rPr>
              <a:t>Lectura, anotación y exportación del vídeo</a:t>
            </a:r>
            <a:endParaRPr lang="en-US" sz="1200" dirty="0"/>
          </a:p>
        </p:txBody>
      </p:sp>
      <p:sp>
        <p:nvSpPr>
          <p:cNvPr id="22" name="Shape 17"/>
          <p:cNvSpPr/>
          <p:nvPr/>
        </p:nvSpPr>
        <p:spPr>
          <a:xfrm>
            <a:off x="6199632" y="2953512"/>
            <a:ext cx="5486400" cy="960120"/>
          </a:xfrm>
          <a:prstGeom prst="rect">
            <a:avLst/>
          </a:prstGeom>
          <a:solidFill>
            <a:srgbClr val="1B2A41"/>
          </a:solidFill>
          <a:ln/>
        </p:spPr>
      </p:sp>
      <p:sp>
        <p:nvSpPr>
          <p:cNvPr id="23" name="Shape 18"/>
          <p:cNvSpPr/>
          <p:nvPr/>
        </p:nvSpPr>
        <p:spPr>
          <a:xfrm>
            <a:off x="6199632" y="2953512"/>
            <a:ext cx="73152" cy="960120"/>
          </a:xfrm>
          <a:prstGeom prst="rect">
            <a:avLst/>
          </a:prstGeom>
          <a:solidFill>
            <a:srgbClr val="00FF87"/>
          </a:solidFill>
          <a:ln/>
        </p:spPr>
      </p:sp>
      <p:pic>
        <p:nvPicPr>
          <p:cNvPr id="24" name="Image 3" descr="preencoded.png">    </p:cNvPr>
          <p:cNvPicPr>
            <a:picLocks noChangeAspect="1"/>
          </p:cNvPicPr>
          <p:nvPr/>
        </p:nvPicPr>
        <p:blipFill>
          <a:blip r:embed="rId4"/>
          <a:stretch>
            <a:fillRect/>
          </a:stretch>
        </p:blipFill>
        <p:spPr>
          <a:xfrm>
            <a:off x="6519672" y="3182112"/>
            <a:ext cx="502920" cy="502920"/>
          </a:xfrm>
          <a:prstGeom prst="rect">
            <a:avLst/>
          </a:prstGeom>
        </p:spPr>
      </p:pic>
      <p:sp>
        <p:nvSpPr>
          <p:cNvPr id="25" name="Text 19"/>
          <p:cNvSpPr/>
          <p:nvPr/>
        </p:nvSpPr>
        <p:spPr>
          <a:xfrm>
            <a:off x="7159752" y="3063240"/>
            <a:ext cx="4389120" cy="365760"/>
          </a:xfrm>
          <a:prstGeom prst="rect">
            <a:avLst/>
          </a:prstGeom>
          <a:noFill/>
          <a:ln/>
        </p:spPr>
        <p:txBody>
          <a:bodyPr wrap="square" lIns="0" tIns="0" rIns="0" bIns="0" rtlCol="0" anchor="ctr"/>
          <a:lstStyle/>
          <a:p>
            <a:pPr indent="0" marL="0">
              <a:buNone/>
            </a:pPr>
            <a:r>
              <a:rPr lang="en-US" sz="1600" b="1" dirty="0">
                <a:solidFill>
                  <a:srgbClr val="F1F5F9"/>
                </a:solidFill>
                <a:latin typeface="Calibri" pitchFamily="34" charset="0"/>
                <a:ea typeface="Calibri" pitchFamily="34" charset="-122"/>
                <a:cs typeface="Calibri" pitchFamily="34" charset="-120"/>
              </a:rPr>
              <a:t>Supervision</a:t>
            </a:r>
            <a:endParaRPr lang="en-US" sz="1600" dirty="0"/>
          </a:p>
        </p:txBody>
      </p:sp>
      <p:sp>
        <p:nvSpPr>
          <p:cNvPr id="26" name="Text 20"/>
          <p:cNvSpPr/>
          <p:nvPr/>
        </p:nvSpPr>
        <p:spPr>
          <a:xfrm>
            <a:off x="7159752" y="3410712"/>
            <a:ext cx="4389120" cy="457200"/>
          </a:xfrm>
          <a:prstGeom prst="rect">
            <a:avLst/>
          </a:prstGeom>
          <a:noFill/>
          <a:ln/>
        </p:spPr>
        <p:txBody>
          <a:bodyPr wrap="square" lIns="0" tIns="0" rIns="0" bIns="0" rtlCol="0" anchor="t"/>
          <a:lstStyle/>
          <a:p>
            <a:pPr indent="0" marL="0">
              <a:buNone/>
            </a:pPr>
            <a:r>
              <a:rPr lang="en-US" sz="1200" dirty="0">
                <a:solidFill>
                  <a:srgbClr val="94A3B8"/>
                </a:solidFill>
                <a:latin typeface="Calibri" pitchFamily="34" charset="0"/>
                <a:ea typeface="Calibri" pitchFamily="34" charset="-122"/>
                <a:cs typeface="Calibri" pitchFamily="34" charset="-120"/>
              </a:rPr>
              <a:t>Anotaciones y wrapper de tracking</a:t>
            </a:r>
            <a:endParaRPr lang="en-US" sz="1200" dirty="0"/>
          </a:p>
        </p:txBody>
      </p:sp>
      <p:sp>
        <p:nvSpPr>
          <p:cNvPr id="27" name="Shape 21"/>
          <p:cNvSpPr/>
          <p:nvPr/>
        </p:nvSpPr>
        <p:spPr>
          <a:xfrm>
            <a:off x="548640" y="4078224"/>
            <a:ext cx="5486400" cy="960120"/>
          </a:xfrm>
          <a:prstGeom prst="rect">
            <a:avLst/>
          </a:prstGeom>
          <a:solidFill>
            <a:srgbClr val="1B2A41"/>
          </a:solidFill>
          <a:ln/>
        </p:spPr>
      </p:sp>
      <p:sp>
        <p:nvSpPr>
          <p:cNvPr id="28" name="Shape 22"/>
          <p:cNvSpPr/>
          <p:nvPr/>
        </p:nvSpPr>
        <p:spPr>
          <a:xfrm>
            <a:off x="548640" y="4078224"/>
            <a:ext cx="73152" cy="960120"/>
          </a:xfrm>
          <a:prstGeom prst="rect">
            <a:avLst/>
          </a:prstGeom>
          <a:solidFill>
            <a:srgbClr val="00FF87"/>
          </a:solidFill>
          <a:ln/>
        </p:spPr>
      </p:sp>
      <p:pic>
        <p:nvPicPr>
          <p:cNvPr id="29" name="Image 4" descr="preencoded.png">    </p:cNvPr>
          <p:cNvPicPr>
            <a:picLocks noChangeAspect="1"/>
          </p:cNvPicPr>
          <p:nvPr/>
        </p:nvPicPr>
        <p:blipFill>
          <a:blip r:embed="rId5"/>
          <a:stretch>
            <a:fillRect/>
          </a:stretch>
        </p:blipFill>
        <p:spPr>
          <a:xfrm>
            <a:off x="868680" y="4306824"/>
            <a:ext cx="502920" cy="502920"/>
          </a:xfrm>
          <a:prstGeom prst="rect">
            <a:avLst/>
          </a:prstGeom>
        </p:spPr>
      </p:pic>
      <p:sp>
        <p:nvSpPr>
          <p:cNvPr id="30" name="Text 23"/>
          <p:cNvSpPr/>
          <p:nvPr/>
        </p:nvSpPr>
        <p:spPr>
          <a:xfrm>
            <a:off x="1508760" y="4187952"/>
            <a:ext cx="4389120" cy="365760"/>
          </a:xfrm>
          <a:prstGeom prst="rect">
            <a:avLst/>
          </a:prstGeom>
          <a:noFill/>
          <a:ln/>
        </p:spPr>
        <p:txBody>
          <a:bodyPr wrap="square" lIns="0" tIns="0" rIns="0" bIns="0" rtlCol="0" anchor="ctr"/>
          <a:lstStyle/>
          <a:p>
            <a:pPr indent="0" marL="0">
              <a:buNone/>
            </a:pPr>
            <a:r>
              <a:rPr lang="en-US" sz="1600" b="1" dirty="0">
                <a:solidFill>
                  <a:srgbClr val="F1F5F9"/>
                </a:solidFill>
                <a:latin typeface="Calibri" pitchFamily="34" charset="0"/>
                <a:ea typeface="Calibri" pitchFamily="34" charset="-122"/>
                <a:cs typeface="Calibri" pitchFamily="34" charset="-120"/>
              </a:rPr>
              <a:t>ByteTrack</a:t>
            </a:r>
            <a:endParaRPr lang="en-US" sz="1600" dirty="0"/>
          </a:p>
        </p:txBody>
      </p:sp>
      <p:sp>
        <p:nvSpPr>
          <p:cNvPr id="31" name="Text 24"/>
          <p:cNvSpPr/>
          <p:nvPr/>
        </p:nvSpPr>
        <p:spPr>
          <a:xfrm>
            <a:off x="1508760" y="4535424"/>
            <a:ext cx="4389120" cy="457200"/>
          </a:xfrm>
          <a:prstGeom prst="rect">
            <a:avLst/>
          </a:prstGeom>
          <a:noFill/>
          <a:ln/>
        </p:spPr>
        <p:txBody>
          <a:bodyPr wrap="square" lIns="0" tIns="0" rIns="0" bIns="0" rtlCol="0" anchor="t"/>
          <a:lstStyle/>
          <a:p>
            <a:pPr indent="0" marL="0">
              <a:buNone/>
            </a:pPr>
            <a:r>
              <a:rPr lang="en-US" sz="1200" dirty="0">
                <a:solidFill>
                  <a:srgbClr val="94A3B8"/>
                </a:solidFill>
                <a:latin typeface="Calibri" pitchFamily="34" charset="0"/>
                <a:ea typeface="Calibri" pitchFamily="34" charset="-122"/>
                <a:cs typeface="Calibri" pitchFamily="34" charset="-120"/>
              </a:rPr>
              <a:t>Mantiene el ID de cada jugador entre frames</a:t>
            </a:r>
            <a:endParaRPr lang="en-US" sz="1200" dirty="0"/>
          </a:p>
        </p:txBody>
      </p:sp>
      <p:sp>
        <p:nvSpPr>
          <p:cNvPr id="32" name="Shape 25"/>
          <p:cNvSpPr/>
          <p:nvPr/>
        </p:nvSpPr>
        <p:spPr>
          <a:xfrm>
            <a:off x="6199632" y="4078224"/>
            <a:ext cx="5486400" cy="960120"/>
          </a:xfrm>
          <a:prstGeom prst="rect">
            <a:avLst/>
          </a:prstGeom>
          <a:solidFill>
            <a:srgbClr val="1B2A41"/>
          </a:solidFill>
          <a:ln/>
        </p:spPr>
      </p:sp>
      <p:sp>
        <p:nvSpPr>
          <p:cNvPr id="33" name="Shape 26"/>
          <p:cNvSpPr/>
          <p:nvPr/>
        </p:nvSpPr>
        <p:spPr>
          <a:xfrm>
            <a:off x="6199632" y="4078224"/>
            <a:ext cx="73152" cy="960120"/>
          </a:xfrm>
          <a:prstGeom prst="rect">
            <a:avLst/>
          </a:prstGeom>
          <a:solidFill>
            <a:srgbClr val="00FF87"/>
          </a:solidFill>
          <a:ln/>
        </p:spPr>
      </p:sp>
      <p:pic>
        <p:nvPicPr>
          <p:cNvPr id="34" name="Image 5" descr="preencoded.png">    </p:cNvPr>
          <p:cNvPicPr>
            <a:picLocks noChangeAspect="1"/>
          </p:cNvPicPr>
          <p:nvPr/>
        </p:nvPicPr>
        <p:blipFill>
          <a:blip r:embed="rId6"/>
          <a:stretch>
            <a:fillRect/>
          </a:stretch>
        </p:blipFill>
        <p:spPr>
          <a:xfrm>
            <a:off x="6519672" y="4306824"/>
            <a:ext cx="502920" cy="502920"/>
          </a:xfrm>
          <a:prstGeom prst="rect">
            <a:avLst/>
          </a:prstGeom>
        </p:spPr>
      </p:pic>
      <p:sp>
        <p:nvSpPr>
          <p:cNvPr id="35" name="Text 27"/>
          <p:cNvSpPr/>
          <p:nvPr/>
        </p:nvSpPr>
        <p:spPr>
          <a:xfrm>
            <a:off x="7159752" y="4187952"/>
            <a:ext cx="4389120" cy="365760"/>
          </a:xfrm>
          <a:prstGeom prst="rect">
            <a:avLst/>
          </a:prstGeom>
          <a:noFill/>
          <a:ln/>
        </p:spPr>
        <p:txBody>
          <a:bodyPr wrap="square" lIns="0" tIns="0" rIns="0" bIns="0" rtlCol="0" anchor="ctr"/>
          <a:lstStyle/>
          <a:p>
            <a:pPr indent="0" marL="0">
              <a:buNone/>
            </a:pPr>
            <a:r>
              <a:rPr lang="en-US" sz="1600" b="1" dirty="0">
                <a:solidFill>
                  <a:srgbClr val="F1F5F9"/>
                </a:solidFill>
                <a:latin typeface="Calibri" pitchFamily="34" charset="0"/>
                <a:ea typeface="Calibri" pitchFamily="34" charset="-122"/>
                <a:cs typeface="Calibri" pitchFamily="34" charset="-120"/>
              </a:rPr>
              <a:t>NumPy + Matplotlib</a:t>
            </a:r>
            <a:endParaRPr lang="en-US" sz="1600" dirty="0"/>
          </a:p>
        </p:txBody>
      </p:sp>
      <p:sp>
        <p:nvSpPr>
          <p:cNvPr id="36" name="Text 28"/>
          <p:cNvSpPr/>
          <p:nvPr/>
        </p:nvSpPr>
        <p:spPr>
          <a:xfrm>
            <a:off x="7159752" y="4535424"/>
            <a:ext cx="4389120" cy="457200"/>
          </a:xfrm>
          <a:prstGeom prst="rect">
            <a:avLst/>
          </a:prstGeom>
          <a:noFill/>
          <a:ln/>
        </p:spPr>
        <p:txBody>
          <a:bodyPr wrap="square" lIns="0" tIns="0" rIns="0" bIns="0" rtlCol="0" anchor="t"/>
          <a:lstStyle/>
          <a:p>
            <a:pPr indent="0" marL="0">
              <a:buNone/>
            </a:pPr>
            <a:r>
              <a:rPr lang="en-US" sz="1200" dirty="0">
                <a:solidFill>
                  <a:srgbClr val="94A3B8"/>
                </a:solidFill>
                <a:latin typeface="Calibri" pitchFamily="34" charset="0"/>
                <a:ea typeface="Calibri" pitchFamily="34" charset="-122"/>
                <a:cs typeface="Calibri" pitchFamily="34" charset="-120"/>
              </a:rPr>
              <a:t>Mapas de calor 2D y 3D</a:t>
            </a:r>
            <a:endParaRPr lang="en-US" sz="1200" dirty="0"/>
          </a:p>
        </p:txBody>
      </p:sp>
      <p:sp>
        <p:nvSpPr>
          <p:cNvPr id="37" name="Shape 29"/>
          <p:cNvSpPr/>
          <p:nvPr/>
        </p:nvSpPr>
        <p:spPr>
          <a:xfrm>
            <a:off x="548640" y="5202936"/>
            <a:ext cx="5486400" cy="960120"/>
          </a:xfrm>
          <a:prstGeom prst="rect">
            <a:avLst/>
          </a:prstGeom>
          <a:solidFill>
            <a:srgbClr val="1B2A41"/>
          </a:solidFill>
          <a:ln/>
        </p:spPr>
      </p:sp>
      <p:sp>
        <p:nvSpPr>
          <p:cNvPr id="38" name="Shape 30"/>
          <p:cNvSpPr/>
          <p:nvPr/>
        </p:nvSpPr>
        <p:spPr>
          <a:xfrm>
            <a:off x="548640" y="5202936"/>
            <a:ext cx="73152" cy="960120"/>
          </a:xfrm>
          <a:prstGeom prst="rect">
            <a:avLst/>
          </a:prstGeom>
          <a:solidFill>
            <a:srgbClr val="00FF87"/>
          </a:solidFill>
          <a:ln/>
        </p:spPr>
      </p:sp>
      <p:pic>
        <p:nvPicPr>
          <p:cNvPr id="39" name="Image 6" descr="preencoded.png">    </p:cNvPr>
          <p:cNvPicPr>
            <a:picLocks noChangeAspect="1"/>
          </p:cNvPicPr>
          <p:nvPr/>
        </p:nvPicPr>
        <p:blipFill>
          <a:blip r:embed="rId7"/>
          <a:stretch>
            <a:fillRect/>
          </a:stretch>
        </p:blipFill>
        <p:spPr>
          <a:xfrm>
            <a:off x="868680" y="5431536"/>
            <a:ext cx="502920" cy="502920"/>
          </a:xfrm>
          <a:prstGeom prst="rect">
            <a:avLst/>
          </a:prstGeom>
        </p:spPr>
      </p:pic>
      <p:sp>
        <p:nvSpPr>
          <p:cNvPr id="40" name="Text 31"/>
          <p:cNvSpPr/>
          <p:nvPr/>
        </p:nvSpPr>
        <p:spPr>
          <a:xfrm>
            <a:off x="1508760" y="5312664"/>
            <a:ext cx="4389120" cy="365760"/>
          </a:xfrm>
          <a:prstGeom prst="rect">
            <a:avLst/>
          </a:prstGeom>
          <a:noFill/>
          <a:ln/>
        </p:spPr>
        <p:txBody>
          <a:bodyPr wrap="square" lIns="0" tIns="0" rIns="0" bIns="0" rtlCol="0" anchor="ctr"/>
          <a:lstStyle/>
          <a:p>
            <a:pPr indent="0" marL="0">
              <a:buNone/>
            </a:pPr>
            <a:r>
              <a:rPr lang="en-US" sz="1600" b="1" dirty="0">
                <a:solidFill>
                  <a:srgbClr val="F1F5F9"/>
                </a:solidFill>
                <a:latin typeface="Calibri" pitchFamily="34" charset="0"/>
                <a:ea typeface="Calibri" pitchFamily="34" charset="-122"/>
                <a:cs typeface="Calibri" pitchFamily="34" charset="-120"/>
              </a:rPr>
              <a:t>CUDA (GPU)</a:t>
            </a:r>
            <a:endParaRPr lang="en-US" sz="1600" dirty="0"/>
          </a:p>
        </p:txBody>
      </p:sp>
      <p:sp>
        <p:nvSpPr>
          <p:cNvPr id="41" name="Text 32"/>
          <p:cNvSpPr/>
          <p:nvPr/>
        </p:nvSpPr>
        <p:spPr>
          <a:xfrm>
            <a:off x="1508760" y="5660136"/>
            <a:ext cx="4389120" cy="457200"/>
          </a:xfrm>
          <a:prstGeom prst="rect">
            <a:avLst/>
          </a:prstGeom>
          <a:noFill/>
          <a:ln/>
        </p:spPr>
        <p:txBody>
          <a:bodyPr wrap="square" lIns="0" tIns="0" rIns="0" bIns="0" rtlCol="0" anchor="t"/>
          <a:lstStyle/>
          <a:p>
            <a:pPr indent="0" marL="0">
              <a:buNone/>
            </a:pPr>
            <a:r>
              <a:rPr lang="en-US" sz="1200" dirty="0">
                <a:solidFill>
                  <a:srgbClr val="94A3B8"/>
                </a:solidFill>
                <a:latin typeface="Calibri" pitchFamily="34" charset="0"/>
                <a:ea typeface="Calibri" pitchFamily="34" charset="-122"/>
                <a:cs typeface="Calibri" pitchFamily="34" charset="-120"/>
              </a:rPr>
              <a:t>Aceleración en RTX 3060 (47 FPS)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713232" y="292608"/>
            <a:ext cx="4572000" cy="274320"/>
          </a:xfrm>
          <a:prstGeom prst="rect">
            <a:avLst/>
          </a:prstGeom>
          <a:noFill/>
          <a:ln/>
        </p:spPr>
        <p:txBody>
          <a:bodyPr wrap="square" lIns="0" tIns="0" rIns="0" bIns="0" rtlCol="0" anchor="ctr"/>
          <a:lstStyle/>
          <a:p>
            <a:pPr indent="0" marL="0">
              <a:buNone/>
            </a:pPr>
            <a:r>
              <a:rPr lang="en-US" sz="1000" b="1" spc="400" kern="0" dirty="0">
                <a:solidFill>
                  <a:srgbClr val="00D4FF"/>
                </a:solidFill>
                <a:latin typeface="Calibri" pitchFamily="34" charset="0"/>
                <a:ea typeface="Calibri" pitchFamily="34" charset="-122"/>
                <a:cs typeface="Calibri" pitchFamily="34" charset="-120"/>
              </a:rPr>
              <a:t>VISIÓN ARTIFICIAL · UPV</a:t>
            </a:r>
            <a:endParaRPr lang="en-US" sz="1000" dirty="0"/>
          </a:p>
        </p:txBody>
      </p:sp>
      <p:sp>
        <p:nvSpPr>
          <p:cNvPr id="3" name="Text 1"/>
          <p:cNvSpPr/>
          <p:nvPr/>
        </p:nvSpPr>
        <p:spPr>
          <a:xfrm>
            <a:off x="548640" y="594360"/>
            <a:ext cx="10058400" cy="731520"/>
          </a:xfrm>
          <a:prstGeom prst="rect">
            <a:avLst/>
          </a:prstGeom>
          <a:noFill/>
          <a:ln/>
        </p:spPr>
        <p:txBody>
          <a:bodyPr wrap="square" lIns="0" tIns="0" rIns="0" bIns="0" rtlCol="0" anchor="ctr"/>
          <a:lstStyle/>
          <a:p>
            <a:pPr indent="0" marL="0">
              <a:buNone/>
            </a:pPr>
            <a:r>
              <a:rPr lang="en-US" sz="3200" b="1" dirty="0">
                <a:solidFill>
                  <a:srgbClr val="F1F5F9"/>
                </a:solidFill>
                <a:latin typeface="Calibri" pitchFamily="34" charset="0"/>
                <a:ea typeface="Calibri" pitchFamily="34" charset="-122"/>
                <a:cs typeface="Calibri" pitchFamily="34" charset="-120"/>
              </a:rPr>
              <a:t>Pipeline del sistema</a:t>
            </a:r>
            <a:endParaRPr lang="en-US" sz="3200" dirty="0"/>
          </a:p>
        </p:txBody>
      </p:sp>
      <p:sp>
        <p:nvSpPr>
          <p:cNvPr id="4" name="Text 2"/>
          <p:cNvSpPr/>
          <p:nvPr/>
        </p:nvSpPr>
        <p:spPr>
          <a:xfrm>
            <a:off x="548640" y="1280160"/>
            <a:ext cx="10058400" cy="365760"/>
          </a:xfrm>
          <a:prstGeom prst="rect">
            <a:avLst/>
          </a:prstGeom>
          <a:noFill/>
          <a:ln/>
        </p:spPr>
        <p:txBody>
          <a:bodyPr wrap="square" lIns="0" tIns="0" rIns="0" bIns="0" rtlCol="0" anchor="ctr"/>
          <a:lstStyle/>
          <a:p>
            <a:pPr indent="0" marL="0">
              <a:buNone/>
            </a:pPr>
            <a:r>
              <a:rPr lang="en-US" sz="1400" i="1" dirty="0">
                <a:solidFill>
                  <a:srgbClr val="94A3B8"/>
                </a:solidFill>
                <a:latin typeface="Calibri" pitchFamily="34" charset="0"/>
                <a:ea typeface="Calibri" pitchFamily="34" charset="-122"/>
                <a:cs typeface="Calibri" pitchFamily="34" charset="-120"/>
              </a:rPr>
              <a:t>Cada fotograma pasa por estas 5 etapas, en bucle</a:t>
            </a:r>
            <a:endParaRPr lang="en-US" sz="1400" dirty="0"/>
          </a:p>
        </p:txBody>
      </p:sp>
      <p:sp>
        <p:nvSpPr>
          <p:cNvPr id="5" name="Text 3"/>
          <p:cNvSpPr/>
          <p:nvPr/>
        </p:nvSpPr>
        <p:spPr>
          <a:xfrm>
            <a:off x="11155680" y="6446520"/>
            <a:ext cx="640080" cy="274320"/>
          </a:xfrm>
          <a:prstGeom prst="rect">
            <a:avLst/>
          </a:prstGeom>
          <a:noFill/>
          <a:ln/>
        </p:spPr>
        <p:txBody>
          <a:bodyPr wrap="square" lIns="0" tIns="0" rIns="0" bIns="0" rtlCol="0" anchor="ctr"/>
          <a:lstStyle/>
          <a:p>
            <a:pPr algn="r" indent="0" marL="0">
              <a:buNone/>
            </a:pPr>
            <a:r>
              <a:rPr lang="en-US" sz="1000" dirty="0">
                <a:solidFill>
                  <a:srgbClr val="94A3B8"/>
                </a:solidFill>
                <a:latin typeface="Consolas" pitchFamily="34" charset="0"/>
                <a:ea typeface="Consolas" pitchFamily="34" charset="-122"/>
                <a:cs typeface="Consolas" pitchFamily="34" charset="-120"/>
              </a:rPr>
              <a:t>4 / 9</a:t>
            </a:r>
            <a:endParaRPr lang="en-US" sz="1000" dirty="0"/>
          </a:p>
        </p:txBody>
      </p:sp>
      <p:sp>
        <p:nvSpPr>
          <p:cNvPr id="6" name="Shape 4"/>
          <p:cNvSpPr/>
          <p:nvPr/>
        </p:nvSpPr>
        <p:spPr>
          <a:xfrm>
            <a:off x="548640" y="320040"/>
            <a:ext cx="45720" cy="164592"/>
          </a:xfrm>
          <a:prstGeom prst="rect">
            <a:avLst/>
          </a:prstGeom>
          <a:solidFill>
            <a:srgbClr val="00D4FF"/>
          </a:solidFill>
          <a:ln/>
        </p:spPr>
      </p:sp>
      <p:sp>
        <p:nvSpPr>
          <p:cNvPr id="7" name="Shape 5"/>
          <p:cNvSpPr/>
          <p:nvPr/>
        </p:nvSpPr>
        <p:spPr>
          <a:xfrm>
            <a:off x="548640" y="2194560"/>
            <a:ext cx="2148840" cy="2194560"/>
          </a:xfrm>
          <a:prstGeom prst="rect">
            <a:avLst/>
          </a:prstGeom>
          <a:solidFill>
            <a:srgbClr val="1B2A41"/>
          </a:solidFill>
          <a:ln/>
        </p:spPr>
      </p:sp>
      <p:sp>
        <p:nvSpPr>
          <p:cNvPr id="8" name="Shape 6"/>
          <p:cNvSpPr/>
          <p:nvPr/>
        </p:nvSpPr>
        <p:spPr>
          <a:xfrm>
            <a:off x="548640" y="2194560"/>
            <a:ext cx="2148840" cy="502920"/>
          </a:xfrm>
          <a:prstGeom prst="rect">
            <a:avLst/>
          </a:prstGeom>
          <a:solidFill>
            <a:srgbClr val="243A5E"/>
          </a:solidFill>
          <a:ln/>
        </p:spPr>
      </p:sp>
      <p:sp>
        <p:nvSpPr>
          <p:cNvPr id="9" name="Text 7"/>
          <p:cNvSpPr/>
          <p:nvPr/>
        </p:nvSpPr>
        <p:spPr>
          <a:xfrm>
            <a:off x="548640" y="2194560"/>
            <a:ext cx="2148840" cy="502920"/>
          </a:xfrm>
          <a:prstGeom prst="rect">
            <a:avLst/>
          </a:prstGeom>
          <a:noFill/>
          <a:ln/>
        </p:spPr>
        <p:txBody>
          <a:bodyPr wrap="square" lIns="0" tIns="0" rIns="0" bIns="0" rtlCol="0" anchor="ctr"/>
          <a:lstStyle/>
          <a:p>
            <a:pPr algn="ctr" indent="0" marL="0">
              <a:buNone/>
            </a:pPr>
            <a:r>
              <a:rPr lang="en-US" sz="1800" b="1" dirty="0">
                <a:solidFill>
                  <a:srgbClr val="00D4FF"/>
                </a:solidFill>
                <a:latin typeface="Consolas" pitchFamily="34" charset="0"/>
                <a:ea typeface="Consolas" pitchFamily="34" charset="-122"/>
                <a:cs typeface="Consolas" pitchFamily="34" charset="-120"/>
              </a:rPr>
              <a:t>01</a:t>
            </a:r>
            <a:endParaRPr lang="en-US" sz="1800" dirty="0"/>
          </a:p>
        </p:txBody>
      </p:sp>
      <p:sp>
        <p:nvSpPr>
          <p:cNvPr id="10" name="Text 8"/>
          <p:cNvSpPr/>
          <p:nvPr/>
        </p:nvSpPr>
        <p:spPr>
          <a:xfrm>
            <a:off x="685800" y="2834640"/>
            <a:ext cx="1874520" cy="411480"/>
          </a:xfrm>
          <a:prstGeom prst="rect">
            <a:avLst/>
          </a:prstGeom>
          <a:noFill/>
          <a:ln/>
        </p:spPr>
        <p:txBody>
          <a:bodyPr wrap="square" lIns="0" tIns="0" rIns="0" bIns="0" rtlCol="0" anchor="ctr"/>
          <a:lstStyle/>
          <a:p>
            <a:pPr algn="ctr" indent="0" marL="0">
              <a:buNone/>
            </a:pPr>
            <a:r>
              <a:rPr lang="en-US" sz="1600" b="1" dirty="0">
                <a:solidFill>
                  <a:srgbClr val="F1F5F9"/>
                </a:solidFill>
                <a:latin typeface="Calibri" pitchFamily="34" charset="0"/>
                <a:ea typeface="Calibri" pitchFamily="34" charset="-122"/>
                <a:cs typeface="Calibri" pitchFamily="34" charset="-120"/>
              </a:rPr>
              <a:t>Vídeo IN</a:t>
            </a:r>
            <a:endParaRPr lang="en-US" sz="1600" dirty="0"/>
          </a:p>
        </p:txBody>
      </p:sp>
      <p:sp>
        <p:nvSpPr>
          <p:cNvPr id="11" name="Text 9"/>
          <p:cNvSpPr/>
          <p:nvPr/>
        </p:nvSpPr>
        <p:spPr>
          <a:xfrm>
            <a:off x="685800" y="3291840"/>
            <a:ext cx="1874520" cy="1005840"/>
          </a:xfrm>
          <a:prstGeom prst="rect">
            <a:avLst/>
          </a:prstGeom>
          <a:noFill/>
          <a:ln/>
        </p:spPr>
        <p:txBody>
          <a:bodyPr wrap="square" lIns="0" tIns="0" rIns="0" bIns="0" rtlCol="0" anchor="t"/>
          <a:lstStyle/>
          <a:p>
            <a:pPr algn="ctr" indent="0" marL="0">
              <a:buNone/>
            </a:pPr>
            <a:r>
              <a:rPr lang="en-US" sz="1100" dirty="0">
                <a:solidFill>
                  <a:srgbClr val="94A3B8"/>
                </a:solidFill>
                <a:latin typeface="Calibri" pitchFamily="34" charset="0"/>
                <a:ea typeface="Calibri" pitchFamily="34" charset="-122"/>
                <a:cs typeface="Calibri" pitchFamily="34" charset="-120"/>
              </a:rPr>
              <a:t>Lectura frame a frame con OpenCV</a:t>
            </a:r>
            <a:endParaRPr lang="en-US" sz="1100" dirty="0"/>
          </a:p>
        </p:txBody>
      </p:sp>
      <p:pic>
        <p:nvPicPr>
          <p:cNvPr id="12" name="Image 0" descr="preencoded.png">    </p:cNvPr>
          <p:cNvPicPr>
            <a:picLocks noChangeAspect="1"/>
          </p:cNvPicPr>
          <p:nvPr/>
        </p:nvPicPr>
        <p:blipFill>
          <a:blip r:embed="rId1"/>
          <a:stretch>
            <a:fillRect/>
          </a:stretch>
        </p:blipFill>
        <p:spPr>
          <a:xfrm>
            <a:off x="2706624" y="3218688"/>
            <a:ext cx="164592" cy="164592"/>
          </a:xfrm>
          <a:prstGeom prst="rect">
            <a:avLst/>
          </a:prstGeom>
        </p:spPr>
      </p:pic>
      <p:sp>
        <p:nvSpPr>
          <p:cNvPr id="13" name="Shape 10"/>
          <p:cNvSpPr/>
          <p:nvPr/>
        </p:nvSpPr>
        <p:spPr>
          <a:xfrm>
            <a:off x="2880360" y="2194560"/>
            <a:ext cx="2148840" cy="2194560"/>
          </a:xfrm>
          <a:prstGeom prst="rect">
            <a:avLst/>
          </a:prstGeom>
          <a:solidFill>
            <a:srgbClr val="1B2A41"/>
          </a:solidFill>
          <a:ln/>
        </p:spPr>
      </p:sp>
      <p:sp>
        <p:nvSpPr>
          <p:cNvPr id="14" name="Shape 11"/>
          <p:cNvSpPr/>
          <p:nvPr/>
        </p:nvSpPr>
        <p:spPr>
          <a:xfrm>
            <a:off x="2880360" y="2194560"/>
            <a:ext cx="2148840" cy="502920"/>
          </a:xfrm>
          <a:prstGeom prst="rect">
            <a:avLst/>
          </a:prstGeom>
          <a:solidFill>
            <a:srgbClr val="243A5E"/>
          </a:solidFill>
          <a:ln/>
        </p:spPr>
      </p:sp>
      <p:sp>
        <p:nvSpPr>
          <p:cNvPr id="15" name="Text 12"/>
          <p:cNvSpPr/>
          <p:nvPr/>
        </p:nvSpPr>
        <p:spPr>
          <a:xfrm>
            <a:off x="2880360" y="2194560"/>
            <a:ext cx="2148840" cy="502920"/>
          </a:xfrm>
          <a:prstGeom prst="rect">
            <a:avLst/>
          </a:prstGeom>
          <a:noFill/>
          <a:ln/>
        </p:spPr>
        <p:txBody>
          <a:bodyPr wrap="square" lIns="0" tIns="0" rIns="0" bIns="0" rtlCol="0" anchor="ctr"/>
          <a:lstStyle/>
          <a:p>
            <a:pPr algn="ctr" indent="0" marL="0">
              <a:buNone/>
            </a:pPr>
            <a:r>
              <a:rPr lang="en-US" sz="1800" b="1" dirty="0">
                <a:solidFill>
                  <a:srgbClr val="00D4FF"/>
                </a:solidFill>
                <a:latin typeface="Consolas" pitchFamily="34" charset="0"/>
                <a:ea typeface="Consolas" pitchFamily="34" charset="-122"/>
                <a:cs typeface="Consolas" pitchFamily="34" charset="-120"/>
              </a:rPr>
              <a:t>02</a:t>
            </a:r>
            <a:endParaRPr lang="en-US" sz="1800" dirty="0"/>
          </a:p>
        </p:txBody>
      </p:sp>
      <p:sp>
        <p:nvSpPr>
          <p:cNvPr id="16" name="Text 13"/>
          <p:cNvSpPr/>
          <p:nvPr/>
        </p:nvSpPr>
        <p:spPr>
          <a:xfrm>
            <a:off x="3017520" y="2834640"/>
            <a:ext cx="1874520" cy="411480"/>
          </a:xfrm>
          <a:prstGeom prst="rect">
            <a:avLst/>
          </a:prstGeom>
          <a:noFill/>
          <a:ln/>
        </p:spPr>
        <p:txBody>
          <a:bodyPr wrap="square" lIns="0" tIns="0" rIns="0" bIns="0" rtlCol="0" anchor="ctr"/>
          <a:lstStyle/>
          <a:p>
            <a:pPr algn="ctr" indent="0" marL="0">
              <a:buNone/>
            </a:pPr>
            <a:r>
              <a:rPr lang="en-US" sz="1600" b="1" dirty="0">
                <a:solidFill>
                  <a:srgbClr val="F1F5F9"/>
                </a:solidFill>
                <a:latin typeface="Calibri" pitchFamily="34" charset="0"/>
                <a:ea typeface="Calibri" pitchFamily="34" charset="-122"/>
                <a:cs typeface="Calibri" pitchFamily="34" charset="-120"/>
              </a:rPr>
              <a:t>Detección</a:t>
            </a:r>
            <a:endParaRPr lang="en-US" sz="1600" dirty="0"/>
          </a:p>
        </p:txBody>
      </p:sp>
      <p:sp>
        <p:nvSpPr>
          <p:cNvPr id="17" name="Text 14"/>
          <p:cNvSpPr/>
          <p:nvPr/>
        </p:nvSpPr>
        <p:spPr>
          <a:xfrm>
            <a:off x="3017520" y="3291840"/>
            <a:ext cx="1874520" cy="1005840"/>
          </a:xfrm>
          <a:prstGeom prst="rect">
            <a:avLst/>
          </a:prstGeom>
          <a:noFill/>
          <a:ln/>
        </p:spPr>
        <p:txBody>
          <a:bodyPr wrap="square" lIns="0" tIns="0" rIns="0" bIns="0" rtlCol="0" anchor="t"/>
          <a:lstStyle/>
          <a:p>
            <a:pPr algn="ctr" indent="0" marL="0">
              <a:buNone/>
            </a:pPr>
            <a:r>
              <a:rPr lang="en-US" sz="1100" dirty="0">
                <a:solidFill>
                  <a:srgbClr val="94A3B8"/>
                </a:solidFill>
                <a:latin typeface="Calibri" pitchFamily="34" charset="0"/>
                <a:ea typeface="Calibri" pitchFamily="34" charset="-122"/>
                <a:cs typeface="Calibri" pitchFamily="34" charset="-120"/>
              </a:rPr>
              <a:t>YOLOv8 → cajas, clase y confianza</a:t>
            </a:r>
            <a:endParaRPr lang="en-US" sz="1100" dirty="0"/>
          </a:p>
        </p:txBody>
      </p:sp>
      <p:pic>
        <p:nvPicPr>
          <p:cNvPr id="18" name="Image 1" descr="preencoded.png">    </p:cNvPr>
          <p:cNvPicPr>
            <a:picLocks noChangeAspect="1"/>
          </p:cNvPicPr>
          <p:nvPr/>
        </p:nvPicPr>
        <p:blipFill>
          <a:blip r:embed="rId2"/>
          <a:stretch>
            <a:fillRect/>
          </a:stretch>
        </p:blipFill>
        <p:spPr>
          <a:xfrm>
            <a:off x="5038344" y="3218688"/>
            <a:ext cx="164592" cy="164592"/>
          </a:xfrm>
          <a:prstGeom prst="rect">
            <a:avLst/>
          </a:prstGeom>
        </p:spPr>
      </p:pic>
      <p:sp>
        <p:nvSpPr>
          <p:cNvPr id="19" name="Shape 15"/>
          <p:cNvSpPr/>
          <p:nvPr/>
        </p:nvSpPr>
        <p:spPr>
          <a:xfrm>
            <a:off x="5212080" y="2194560"/>
            <a:ext cx="2148840" cy="2194560"/>
          </a:xfrm>
          <a:prstGeom prst="rect">
            <a:avLst/>
          </a:prstGeom>
          <a:solidFill>
            <a:srgbClr val="1B2A41"/>
          </a:solidFill>
          <a:ln/>
        </p:spPr>
      </p:sp>
      <p:sp>
        <p:nvSpPr>
          <p:cNvPr id="20" name="Shape 16"/>
          <p:cNvSpPr/>
          <p:nvPr/>
        </p:nvSpPr>
        <p:spPr>
          <a:xfrm>
            <a:off x="5212080" y="2194560"/>
            <a:ext cx="2148840" cy="502920"/>
          </a:xfrm>
          <a:prstGeom prst="rect">
            <a:avLst/>
          </a:prstGeom>
          <a:solidFill>
            <a:srgbClr val="243A5E"/>
          </a:solidFill>
          <a:ln/>
        </p:spPr>
      </p:sp>
      <p:sp>
        <p:nvSpPr>
          <p:cNvPr id="21" name="Text 17"/>
          <p:cNvSpPr/>
          <p:nvPr/>
        </p:nvSpPr>
        <p:spPr>
          <a:xfrm>
            <a:off x="5212080" y="2194560"/>
            <a:ext cx="2148840" cy="502920"/>
          </a:xfrm>
          <a:prstGeom prst="rect">
            <a:avLst/>
          </a:prstGeom>
          <a:noFill/>
          <a:ln/>
        </p:spPr>
        <p:txBody>
          <a:bodyPr wrap="square" lIns="0" tIns="0" rIns="0" bIns="0" rtlCol="0" anchor="ctr"/>
          <a:lstStyle/>
          <a:p>
            <a:pPr algn="ctr" indent="0" marL="0">
              <a:buNone/>
            </a:pPr>
            <a:r>
              <a:rPr lang="en-US" sz="1800" b="1" dirty="0">
                <a:solidFill>
                  <a:srgbClr val="00D4FF"/>
                </a:solidFill>
                <a:latin typeface="Consolas" pitchFamily="34" charset="0"/>
                <a:ea typeface="Consolas" pitchFamily="34" charset="-122"/>
                <a:cs typeface="Consolas" pitchFamily="34" charset="-120"/>
              </a:rPr>
              <a:t>03</a:t>
            </a:r>
            <a:endParaRPr lang="en-US" sz="1800" dirty="0"/>
          </a:p>
        </p:txBody>
      </p:sp>
      <p:sp>
        <p:nvSpPr>
          <p:cNvPr id="22" name="Text 18"/>
          <p:cNvSpPr/>
          <p:nvPr/>
        </p:nvSpPr>
        <p:spPr>
          <a:xfrm>
            <a:off x="5349240" y="2834640"/>
            <a:ext cx="1874520" cy="411480"/>
          </a:xfrm>
          <a:prstGeom prst="rect">
            <a:avLst/>
          </a:prstGeom>
          <a:noFill/>
          <a:ln/>
        </p:spPr>
        <p:txBody>
          <a:bodyPr wrap="square" lIns="0" tIns="0" rIns="0" bIns="0" rtlCol="0" anchor="ctr"/>
          <a:lstStyle/>
          <a:p>
            <a:pPr algn="ctr" indent="0" marL="0">
              <a:buNone/>
            </a:pPr>
            <a:r>
              <a:rPr lang="en-US" sz="1600" b="1" dirty="0">
                <a:solidFill>
                  <a:srgbClr val="F1F5F9"/>
                </a:solidFill>
                <a:latin typeface="Calibri" pitchFamily="34" charset="0"/>
                <a:ea typeface="Calibri" pitchFamily="34" charset="-122"/>
                <a:cs typeface="Calibri" pitchFamily="34" charset="-120"/>
              </a:rPr>
              <a:t>Equipos</a:t>
            </a:r>
            <a:endParaRPr lang="en-US" sz="1600" dirty="0"/>
          </a:p>
        </p:txBody>
      </p:sp>
      <p:sp>
        <p:nvSpPr>
          <p:cNvPr id="23" name="Text 19"/>
          <p:cNvSpPr/>
          <p:nvPr/>
        </p:nvSpPr>
        <p:spPr>
          <a:xfrm>
            <a:off x="5349240" y="3291840"/>
            <a:ext cx="1874520" cy="1005840"/>
          </a:xfrm>
          <a:prstGeom prst="rect">
            <a:avLst/>
          </a:prstGeom>
          <a:noFill/>
          <a:ln/>
        </p:spPr>
        <p:txBody>
          <a:bodyPr wrap="square" lIns="0" tIns="0" rIns="0" bIns="0" rtlCol="0" anchor="t"/>
          <a:lstStyle/>
          <a:p>
            <a:pPr algn="ctr" indent="0" marL="0">
              <a:buNone/>
            </a:pPr>
            <a:r>
              <a:rPr lang="en-US" sz="1100" dirty="0">
                <a:solidFill>
                  <a:srgbClr val="94A3B8"/>
                </a:solidFill>
                <a:latin typeface="Calibri" pitchFamily="34" charset="0"/>
                <a:ea typeface="Calibri" pitchFamily="34" charset="-122"/>
                <a:cs typeface="Calibri" pitchFamily="34" charset="-120"/>
              </a:rPr>
              <a:t>HSV + K-Means (k=2) sobre la camiseta</a:t>
            </a:r>
            <a:endParaRPr lang="en-US" sz="1100" dirty="0"/>
          </a:p>
        </p:txBody>
      </p:sp>
      <p:pic>
        <p:nvPicPr>
          <p:cNvPr id="24" name="Image 2" descr="preencoded.png">    </p:cNvPr>
          <p:cNvPicPr>
            <a:picLocks noChangeAspect="1"/>
          </p:cNvPicPr>
          <p:nvPr/>
        </p:nvPicPr>
        <p:blipFill>
          <a:blip r:embed="rId3"/>
          <a:stretch>
            <a:fillRect/>
          </a:stretch>
        </p:blipFill>
        <p:spPr>
          <a:xfrm>
            <a:off x="7370064" y="3218688"/>
            <a:ext cx="164592" cy="164592"/>
          </a:xfrm>
          <a:prstGeom prst="rect">
            <a:avLst/>
          </a:prstGeom>
        </p:spPr>
      </p:pic>
      <p:sp>
        <p:nvSpPr>
          <p:cNvPr id="25" name="Shape 20"/>
          <p:cNvSpPr/>
          <p:nvPr/>
        </p:nvSpPr>
        <p:spPr>
          <a:xfrm>
            <a:off x="7543800" y="2194560"/>
            <a:ext cx="2148840" cy="2194560"/>
          </a:xfrm>
          <a:prstGeom prst="rect">
            <a:avLst/>
          </a:prstGeom>
          <a:solidFill>
            <a:srgbClr val="1B2A41"/>
          </a:solidFill>
          <a:ln/>
        </p:spPr>
      </p:sp>
      <p:sp>
        <p:nvSpPr>
          <p:cNvPr id="26" name="Shape 21"/>
          <p:cNvSpPr/>
          <p:nvPr/>
        </p:nvSpPr>
        <p:spPr>
          <a:xfrm>
            <a:off x="7543800" y="2194560"/>
            <a:ext cx="2148840" cy="502920"/>
          </a:xfrm>
          <a:prstGeom prst="rect">
            <a:avLst/>
          </a:prstGeom>
          <a:solidFill>
            <a:srgbClr val="243A5E"/>
          </a:solidFill>
          <a:ln/>
        </p:spPr>
      </p:sp>
      <p:sp>
        <p:nvSpPr>
          <p:cNvPr id="27" name="Text 22"/>
          <p:cNvSpPr/>
          <p:nvPr/>
        </p:nvSpPr>
        <p:spPr>
          <a:xfrm>
            <a:off x="7543800" y="2194560"/>
            <a:ext cx="2148840" cy="502920"/>
          </a:xfrm>
          <a:prstGeom prst="rect">
            <a:avLst/>
          </a:prstGeom>
          <a:noFill/>
          <a:ln/>
        </p:spPr>
        <p:txBody>
          <a:bodyPr wrap="square" lIns="0" tIns="0" rIns="0" bIns="0" rtlCol="0" anchor="ctr"/>
          <a:lstStyle/>
          <a:p>
            <a:pPr algn="ctr" indent="0" marL="0">
              <a:buNone/>
            </a:pPr>
            <a:r>
              <a:rPr lang="en-US" sz="1800" b="1" dirty="0">
                <a:solidFill>
                  <a:srgbClr val="00D4FF"/>
                </a:solidFill>
                <a:latin typeface="Consolas" pitchFamily="34" charset="0"/>
                <a:ea typeface="Consolas" pitchFamily="34" charset="-122"/>
                <a:cs typeface="Consolas" pitchFamily="34" charset="-120"/>
              </a:rPr>
              <a:t>04</a:t>
            </a:r>
            <a:endParaRPr lang="en-US" sz="1800" dirty="0"/>
          </a:p>
        </p:txBody>
      </p:sp>
      <p:sp>
        <p:nvSpPr>
          <p:cNvPr id="28" name="Text 23"/>
          <p:cNvSpPr/>
          <p:nvPr/>
        </p:nvSpPr>
        <p:spPr>
          <a:xfrm>
            <a:off x="7680960" y="2834640"/>
            <a:ext cx="1874520" cy="411480"/>
          </a:xfrm>
          <a:prstGeom prst="rect">
            <a:avLst/>
          </a:prstGeom>
          <a:noFill/>
          <a:ln/>
        </p:spPr>
        <p:txBody>
          <a:bodyPr wrap="square" lIns="0" tIns="0" rIns="0" bIns="0" rtlCol="0" anchor="ctr"/>
          <a:lstStyle/>
          <a:p>
            <a:pPr algn="ctr" indent="0" marL="0">
              <a:buNone/>
            </a:pPr>
            <a:r>
              <a:rPr lang="en-US" sz="1600" b="1" dirty="0">
                <a:solidFill>
                  <a:srgbClr val="F1F5F9"/>
                </a:solidFill>
                <a:latin typeface="Calibri" pitchFamily="34" charset="0"/>
                <a:ea typeface="Calibri" pitchFamily="34" charset="-122"/>
                <a:cs typeface="Calibri" pitchFamily="34" charset="-120"/>
              </a:rPr>
              <a:t>Tracking</a:t>
            </a:r>
            <a:endParaRPr lang="en-US" sz="1600" dirty="0"/>
          </a:p>
        </p:txBody>
      </p:sp>
      <p:sp>
        <p:nvSpPr>
          <p:cNvPr id="29" name="Text 24"/>
          <p:cNvSpPr/>
          <p:nvPr/>
        </p:nvSpPr>
        <p:spPr>
          <a:xfrm>
            <a:off x="7680960" y="3291840"/>
            <a:ext cx="1874520" cy="1005840"/>
          </a:xfrm>
          <a:prstGeom prst="rect">
            <a:avLst/>
          </a:prstGeom>
          <a:noFill/>
          <a:ln/>
        </p:spPr>
        <p:txBody>
          <a:bodyPr wrap="square" lIns="0" tIns="0" rIns="0" bIns="0" rtlCol="0" anchor="t"/>
          <a:lstStyle/>
          <a:p>
            <a:pPr algn="ctr" indent="0" marL="0">
              <a:buNone/>
            </a:pPr>
            <a:r>
              <a:rPr lang="en-US" sz="1100" dirty="0">
                <a:solidFill>
                  <a:srgbClr val="94A3B8"/>
                </a:solidFill>
                <a:latin typeface="Calibri" pitchFamily="34" charset="0"/>
                <a:ea typeface="Calibri" pitchFamily="34" charset="-122"/>
                <a:cs typeface="Calibri" pitchFamily="34" charset="-120"/>
              </a:rPr>
              <a:t>ByteTrack asigna y mantiene IDs</a:t>
            </a:r>
            <a:endParaRPr lang="en-US" sz="1100" dirty="0"/>
          </a:p>
        </p:txBody>
      </p:sp>
      <p:pic>
        <p:nvPicPr>
          <p:cNvPr id="30" name="Image 3" descr="preencoded.png">    </p:cNvPr>
          <p:cNvPicPr>
            <a:picLocks noChangeAspect="1"/>
          </p:cNvPicPr>
          <p:nvPr/>
        </p:nvPicPr>
        <p:blipFill>
          <a:blip r:embed="rId4"/>
          <a:stretch>
            <a:fillRect/>
          </a:stretch>
        </p:blipFill>
        <p:spPr>
          <a:xfrm>
            <a:off x="9701784" y="3218688"/>
            <a:ext cx="164592" cy="164592"/>
          </a:xfrm>
          <a:prstGeom prst="rect">
            <a:avLst/>
          </a:prstGeom>
        </p:spPr>
      </p:pic>
      <p:sp>
        <p:nvSpPr>
          <p:cNvPr id="31" name="Shape 25"/>
          <p:cNvSpPr/>
          <p:nvPr/>
        </p:nvSpPr>
        <p:spPr>
          <a:xfrm>
            <a:off x="9875520" y="2194560"/>
            <a:ext cx="2148840" cy="2194560"/>
          </a:xfrm>
          <a:prstGeom prst="rect">
            <a:avLst/>
          </a:prstGeom>
          <a:solidFill>
            <a:srgbClr val="1B2A41"/>
          </a:solidFill>
          <a:ln/>
        </p:spPr>
      </p:sp>
      <p:sp>
        <p:nvSpPr>
          <p:cNvPr id="32" name="Shape 26"/>
          <p:cNvSpPr/>
          <p:nvPr/>
        </p:nvSpPr>
        <p:spPr>
          <a:xfrm>
            <a:off x="9875520" y="2194560"/>
            <a:ext cx="2148840" cy="502920"/>
          </a:xfrm>
          <a:prstGeom prst="rect">
            <a:avLst/>
          </a:prstGeom>
          <a:solidFill>
            <a:srgbClr val="243A5E"/>
          </a:solidFill>
          <a:ln/>
        </p:spPr>
      </p:sp>
      <p:sp>
        <p:nvSpPr>
          <p:cNvPr id="33" name="Text 27"/>
          <p:cNvSpPr/>
          <p:nvPr/>
        </p:nvSpPr>
        <p:spPr>
          <a:xfrm>
            <a:off x="9875520" y="2194560"/>
            <a:ext cx="2148840" cy="502920"/>
          </a:xfrm>
          <a:prstGeom prst="rect">
            <a:avLst/>
          </a:prstGeom>
          <a:noFill/>
          <a:ln/>
        </p:spPr>
        <p:txBody>
          <a:bodyPr wrap="square" lIns="0" tIns="0" rIns="0" bIns="0" rtlCol="0" anchor="ctr"/>
          <a:lstStyle/>
          <a:p>
            <a:pPr algn="ctr" indent="0" marL="0">
              <a:buNone/>
            </a:pPr>
            <a:r>
              <a:rPr lang="en-US" sz="1800" b="1" dirty="0">
                <a:solidFill>
                  <a:srgbClr val="00D4FF"/>
                </a:solidFill>
                <a:latin typeface="Consolas" pitchFamily="34" charset="0"/>
                <a:ea typeface="Consolas" pitchFamily="34" charset="-122"/>
                <a:cs typeface="Consolas" pitchFamily="34" charset="-120"/>
              </a:rPr>
              <a:t>05</a:t>
            </a:r>
            <a:endParaRPr lang="en-US" sz="1800" dirty="0"/>
          </a:p>
        </p:txBody>
      </p:sp>
      <p:sp>
        <p:nvSpPr>
          <p:cNvPr id="34" name="Text 28"/>
          <p:cNvSpPr/>
          <p:nvPr/>
        </p:nvSpPr>
        <p:spPr>
          <a:xfrm>
            <a:off x="10012680" y="2834640"/>
            <a:ext cx="1874520" cy="411480"/>
          </a:xfrm>
          <a:prstGeom prst="rect">
            <a:avLst/>
          </a:prstGeom>
          <a:noFill/>
          <a:ln/>
        </p:spPr>
        <p:txBody>
          <a:bodyPr wrap="square" lIns="0" tIns="0" rIns="0" bIns="0" rtlCol="0" anchor="ctr"/>
          <a:lstStyle/>
          <a:p>
            <a:pPr algn="ctr" indent="0" marL="0">
              <a:buNone/>
            </a:pPr>
            <a:r>
              <a:rPr lang="en-US" sz="1600" b="1" dirty="0">
                <a:solidFill>
                  <a:srgbClr val="F1F5F9"/>
                </a:solidFill>
                <a:latin typeface="Calibri" pitchFamily="34" charset="0"/>
                <a:ea typeface="Calibri" pitchFamily="34" charset="-122"/>
                <a:cs typeface="Calibri" pitchFamily="34" charset="-120"/>
              </a:rPr>
              <a:t>Heatmap + OUT</a:t>
            </a:r>
            <a:endParaRPr lang="en-US" sz="1600" dirty="0"/>
          </a:p>
        </p:txBody>
      </p:sp>
      <p:sp>
        <p:nvSpPr>
          <p:cNvPr id="35" name="Text 29"/>
          <p:cNvSpPr/>
          <p:nvPr/>
        </p:nvSpPr>
        <p:spPr>
          <a:xfrm>
            <a:off x="10012680" y="3291840"/>
            <a:ext cx="1874520" cy="1005840"/>
          </a:xfrm>
          <a:prstGeom prst="rect">
            <a:avLst/>
          </a:prstGeom>
          <a:noFill/>
          <a:ln/>
        </p:spPr>
        <p:txBody>
          <a:bodyPr wrap="square" lIns="0" tIns="0" rIns="0" bIns="0" rtlCol="0" anchor="t"/>
          <a:lstStyle/>
          <a:p>
            <a:pPr algn="ctr" indent="0" marL="0">
              <a:buNone/>
            </a:pPr>
            <a:r>
              <a:rPr lang="en-US" sz="1100" dirty="0">
                <a:solidFill>
                  <a:srgbClr val="94A3B8"/>
                </a:solidFill>
                <a:latin typeface="Calibri" pitchFamily="34" charset="0"/>
                <a:ea typeface="Calibri" pitchFamily="34" charset="-122"/>
                <a:cs typeface="Calibri" pitchFamily="34" charset="-120"/>
              </a:rPr>
              <a:t>Acumula posiciones · exporta MP4</a:t>
            </a:r>
            <a:endParaRPr lang="en-US" sz="1100" dirty="0"/>
          </a:p>
        </p:txBody>
      </p:sp>
      <p:sp>
        <p:nvSpPr>
          <p:cNvPr id="36" name="Shape 30"/>
          <p:cNvSpPr/>
          <p:nvPr/>
        </p:nvSpPr>
        <p:spPr>
          <a:xfrm>
            <a:off x="548640" y="4800600"/>
            <a:ext cx="11064240" cy="1325880"/>
          </a:xfrm>
          <a:prstGeom prst="rect">
            <a:avLst/>
          </a:prstGeom>
          <a:solidFill>
            <a:srgbClr val="1B2A41"/>
          </a:solidFill>
          <a:ln/>
        </p:spPr>
      </p:sp>
      <p:sp>
        <p:nvSpPr>
          <p:cNvPr id="37" name="Shape 31"/>
          <p:cNvSpPr/>
          <p:nvPr/>
        </p:nvSpPr>
        <p:spPr>
          <a:xfrm>
            <a:off x="548640" y="4800600"/>
            <a:ext cx="73152" cy="1325880"/>
          </a:xfrm>
          <a:prstGeom prst="rect">
            <a:avLst/>
          </a:prstGeom>
          <a:solidFill>
            <a:srgbClr val="00FF87"/>
          </a:solidFill>
          <a:ln/>
        </p:spPr>
      </p:sp>
      <p:pic>
        <p:nvPicPr>
          <p:cNvPr id="38" name="Image 4" descr="preencoded.png">    </p:cNvPr>
          <p:cNvPicPr>
            <a:picLocks noChangeAspect="1"/>
          </p:cNvPicPr>
          <p:nvPr/>
        </p:nvPicPr>
        <p:blipFill>
          <a:blip r:embed="rId5"/>
          <a:stretch>
            <a:fillRect/>
          </a:stretch>
        </p:blipFill>
        <p:spPr>
          <a:xfrm>
            <a:off x="777240" y="4983480"/>
            <a:ext cx="365760" cy="365760"/>
          </a:xfrm>
          <a:prstGeom prst="rect">
            <a:avLst/>
          </a:prstGeom>
        </p:spPr>
      </p:pic>
      <p:sp>
        <p:nvSpPr>
          <p:cNvPr id="39" name="Text 32"/>
          <p:cNvSpPr/>
          <p:nvPr/>
        </p:nvSpPr>
        <p:spPr>
          <a:xfrm>
            <a:off x="1234440" y="4956048"/>
            <a:ext cx="1371600" cy="274320"/>
          </a:xfrm>
          <a:prstGeom prst="rect">
            <a:avLst/>
          </a:prstGeom>
          <a:noFill/>
          <a:ln/>
        </p:spPr>
        <p:txBody>
          <a:bodyPr wrap="square" lIns="0" tIns="0" rIns="0" bIns="0" rtlCol="0" anchor="ctr"/>
          <a:lstStyle/>
          <a:p>
            <a:pPr indent="0" marL="0">
              <a:buNone/>
            </a:pPr>
            <a:r>
              <a:rPr lang="en-US" sz="1100" b="1" spc="400" kern="0" dirty="0">
                <a:solidFill>
                  <a:srgbClr val="00FF87"/>
                </a:solidFill>
                <a:latin typeface="Calibri" pitchFamily="34" charset="0"/>
                <a:ea typeface="Calibri" pitchFamily="34" charset="-122"/>
                <a:cs typeface="Calibri" pitchFamily="34" charset="-120"/>
              </a:rPr>
              <a:t>CLAVE</a:t>
            </a:r>
            <a:endParaRPr lang="en-US" sz="1100" dirty="0"/>
          </a:p>
        </p:txBody>
      </p:sp>
      <p:sp>
        <p:nvSpPr>
          <p:cNvPr id="40" name="Text 33"/>
          <p:cNvSpPr/>
          <p:nvPr/>
        </p:nvSpPr>
        <p:spPr>
          <a:xfrm>
            <a:off x="1234440" y="5212080"/>
            <a:ext cx="10241280" cy="914400"/>
          </a:xfrm>
          <a:prstGeom prst="rect">
            <a:avLst/>
          </a:prstGeom>
          <a:noFill/>
          <a:ln/>
        </p:spPr>
        <p:txBody>
          <a:bodyPr wrap="square" lIns="0" tIns="0" rIns="0" bIns="0" rtlCol="0" anchor="t"/>
          <a:lstStyle/>
          <a:p>
            <a:pPr indent="0" marL="0">
              <a:buNone/>
            </a:pPr>
            <a:r>
              <a:rPr lang="en-US" sz="1300" dirty="0">
                <a:solidFill>
                  <a:srgbClr val="F1F5F9"/>
                </a:solidFill>
                <a:latin typeface="Calibri" pitchFamily="34" charset="0"/>
                <a:ea typeface="Calibri" pitchFamily="34" charset="-122"/>
                <a:cs typeface="Calibri" pitchFamily="34" charset="-120"/>
              </a:rPr>
              <a:t>El tracking no se limita a la detección: ByteTrack predice dónde estará cada jugador en el siguiente frame y empareja con la nueva detección. Así sobrevive a tapados breves, cambios de pose y a que un jugador desaparezca un momento de cámara.</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713232" y="292608"/>
            <a:ext cx="4572000" cy="274320"/>
          </a:xfrm>
          <a:prstGeom prst="rect">
            <a:avLst/>
          </a:prstGeom>
          <a:noFill/>
          <a:ln/>
        </p:spPr>
        <p:txBody>
          <a:bodyPr wrap="square" lIns="0" tIns="0" rIns="0" bIns="0" rtlCol="0" anchor="ctr"/>
          <a:lstStyle/>
          <a:p>
            <a:pPr indent="0" marL="0">
              <a:buNone/>
            </a:pPr>
            <a:r>
              <a:rPr lang="en-US" sz="1000" b="1" spc="400" kern="0" dirty="0">
                <a:solidFill>
                  <a:srgbClr val="00D4FF"/>
                </a:solidFill>
                <a:latin typeface="Calibri" pitchFamily="34" charset="0"/>
                <a:ea typeface="Calibri" pitchFamily="34" charset="-122"/>
                <a:cs typeface="Calibri" pitchFamily="34" charset="-120"/>
              </a:rPr>
              <a:t>VISIÓN ARTIFICIAL · UPV</a:t>
            </a:r>
            <a:endParaRPr lang="en-US" sz="1000" dirty="0"/>
          </a:p>
        </p:txBody>
      </p:sp>
      <p:sp>
        <p:nvSpPr>
          <p:cNvPr id="3" name="Text 1"/>
          <p:cNvSpPr/>
          <p:nvPr/>
        </p:nvSpPr>
        <p:spPr>
          <a:xfrm>
            <a:off x="548640" y="594360"/>
            <a:ext cx="10058400" cy="731520"/>
          </a:xfrm>
          <a:prstGeom prst="rect">
            <a:avLst/>
          </a:prstGeom>
          <a:noFill/>
          <a:ln/>
        </p:spPr>
        <p:txBody>
          <a:bodyPr wrap="square" lIns="0" tIns="0" rIns="0" bIns="0" rtlCol="0" anchor="ctr"/>
          <a:lstStyle/>
          <a:p>
            <a:pPr indent="0" marL="0">
              <a:buNone/>
            </a:pPr>
            <a:r>
              <a:rPr lang="en-US" sz="3200" b="1" dirty="0">
                <a:solidFill>
                  <a:srgbClr val="F1F5F9"/>
                </a:solidFill>
                <a:latin typeface="Calibri" pitchFamily="34" charset="0"/>
                <a:ea typeface="Calibri" pitchFamily="34" charset="-122"/>
                <a:cs typeface="Calibri" pitchFamily="34" charset="-120"/>
              </a:rPr>
              <a:t>¿Por qué YOLOv8?</a:t>
            </a:r>
            <a:endParaRPr lang="en-US" sz="3200" dirty="0"/>
          </a:p>
        </p:txBody>
      </p:sp>
      <p:sp>
        <p:nvSpPr>
          <p:cNvPr id="4" name="Text 2"/>
          <p:cNvSpPr/>
          <p:nvPr/>
        </p:nvSpPr>
        <p:spPr>
          <a:xfrm>
            <a:off x="548640" y="1280160"/>
            <a:ext cx="10058400" cy="365760"/>
          </a:xfrm>
          <a:prstGeom prst="rect">
            <a:avLst/>
          </a:prstGeom>
          <a:noFill/>
          <a:ln/>
        </p:spPr>
        <p:txBody>
          <a:bodyPr wrap="square" lIns="0" tIns="0" rIns="0" bIns="0" rtlCol="0" anchor="ctr"/>
          <a:lstStyle/>
          <a:p>
            <a:pPr indent="0" marL="0">
              <a:buNone/>
            </a:pPr>
            <a:r>
              <a:rPr lang="en-US" sz="1400" i="1" dirty="0">
                <a:solidFill>
                  <a:srgbClr val="94A3B8"/>
                </a:solidFill>
                <a:latin typeface="Calibri" pitchFamily="34" charset="0"/>
                <a:ea typeface="Calibri" pitchFamily="34" charset="-122"/>
                <a:cs typeface="Calibri" pitchFamily="34" charset="-120"/>
              </a:rPr>
              <a:t>Lo comparamos con otras 4 técnicas antes de decidir</a:t>
            </a:r>
            <a:endParaRPr lang="en-US" sz="1400" dirty="0"/>
          </a:p>
        </p:txBody>
      </p:sp>
      <p:sp>
        <p:nvSpPr>
          <p:cNvPr id="5" name="Text 3"/>
          <p:cNvSpPr/>
          <p:nvPr/>
        </p:nvSpPr>
        <p:spPr>
          <a:xfrm>
            <a:off x="11155680" y="6446520"/>
            <a:ext cx="640080" cy="274320"/>
          </a:xfrm>
          <a:prstGeom prst="rect">
            <a:avLst/>
          </a:prstGeom>
          <a:noFill/>
          <a:ln/>
        </p:spPr>
        <p:txBody>
          <a:bodyPr wrap="square" lIns="0" tIns="0" rIns="0" bIns="0" rtlCol="0" anchor="ctr"/>
          <a:lstStyle/>
          <a:p>
            <a:pPr algn="r" indent="0" marL="0">
              <a:buNone/>
            </a:pPr>
            <a:r>
              <a:rPr lang="en-US" sz="1000" dirty="0">
                <a:solidFill>
                  <a:srgbClr val="94A3B8"/>
                </a:solidFill>
                <a:latin typeface="Consolas" pitchFamily="34" charset="0"/>
                <a:ea typeface="Consolas" pitchFamily="34" charset="-122"/>
                <a:cs typeface="Consolas" pitchFamily="34" charset="-120"/>
              </a:rPr>
              <a:t>5 / 9</a:t>
            </a:r>
            <a:endParaRPr lang="en-US" sz="1000" dirty="0"/>
          </a:p>
        </p:txBody>
      </p:sp>
      <p:sp>
        <p:nvSpPr>
          <p:cNvPr id="6" name="Shape 4"/>
          <p:cNvSpPr/>
          <p:nvPr/>
        </p:nvSpPr>
        <p:spPr>
          <a:xfrm>
            <a:off x="548640" y="320040"/>
            <a:ext cx="45720" cy="164592"/>
          </a:xfrm>
          <a:prstGeom prst="rect">
            <a:avLst/>
          </a:prstGeom>
          <a:solidFill>
            <a:srgbClr val="00D4FF"/>
          </a:solidFill>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874520"/>
          <a:ext cx="7315200" cy="3383280"/>
        </p:xfrm>
        <a:graphic>
          <a:graphicData uri="http://schemas.openxmlformats.org/drawingml/2006/table">
            <a:tbl>
              <a:tblPr/>
              <a:tblGrid>
                <a:gridCol w="2194560"/>
                <a:gridCol w="1691640"/>
                <a:gridCol w="1691640"/>
                <a:gridCol w="1737360"/>
              </a:tblGrid>
              <a:tr h="457200">
                <a:tc>
                  <a:txBody>
                    <a:bodyPr/>
                    <a:lstStyle/>
                    <a:p>
                      <a:pPr algn="ctr" indent="0" marL="0">
                        <a:buNone/>
                      </a:pPr>
                      <a:r>
                        <a:rPr lang="en-US" sz="1200" b="1" spc="300" kern="0" dirty="0">
                          <a:solidFill>
                            <a:srgbClr val="00D4FF"/>
                          </a:solidFill>
                          <a:latin typeface="Calibri" pitchFamily="34" charset="0"/>
                          <a:ea typeface="Calibri" pitchFamily="34" charset="-122"/>
                          <a:cs typeface="Calibri" pitchFamily="34" charset="-120"/>
                        </a:rPr>
                        <a:t>TÉCNICA</a:t>
                      </a:r>
                      <a:endParaRPr lang="en-US" sz="12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243A5E"/>
                    </a:solidFill>
                  </a:tcPr>
                </a:tc>
                <a:tc>
                  <a:txBody>
                    <a:bodyPr/>
                    <a:lstStyle/>
                    <a:p>
                      <a:pPr algn="ctr" indent="0" marL="0">
                        <a:buNone/>
                      </a:pPr>
                      <a:r>
                        <a:rPr lang="en-US" sz="1200" b="1" spc="300" kern="0" dirty="0">
                          <a:solidFill>
                            <a:srgbClr val="00D4FF"/>
                          </a:solidFill>
                          <a:latin typeface="Calibri" pitchFamily="34" charset="0"/>
                          <a:ea typeface="Calibri" pitchFamily="34" charset="-122"/>
                          <a:cs typeface="Calibri" pitchFamily="34" charset="-120"/>
                        </a:rPr>
                        <a:t>VELOCIDAD</a:t>
                      </a:r>
                      <a:endParaRPr lang="en-US" sz="12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243A5E"/>
                    </a:solidFill>
                  </a:tcPr>
                </a:tc>
                <a:tc>
                  <a:txBody>
                    <a:bodyPr/>
                    <a:lstStyle/>
                    <a:p>
                      <a:pPr algn="ctr" indent="0" marL="0">
                        <a:buNone/>
                      </a:pPr>
                      <a:r>
                        <a:rPr lang="en-US" sz="1200" b="1" spc="300" kern="0" dirty="0">
                          <a:solidFill>
                            <a:srgbClr val="00D4FF"/>
                          </a:solidFill>
                          <a:latin typeface="Calibri" pitchFamily="34" charset="0"/>
                          <a:ea typeface="Calibri" pitchFamily="34" charset="-122"/>
                          <a:cs typeface="Calibri" pitchFamily="34" charset="-120"/>
                        </a:rPr>
                        <a:t>PRECISIÓN</a:t>
                      </a:r>
                      <a:endParaRPr lang="en-US" sz="12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243A5E"/>
                    </a:solidFill>
                  </a:tcPr>
                </a:tc>
                <a:tc>
                  <a:txBody>
                    <a:bodyPr/>
                    <a:lstStyle/>
                    <a:p>
                      <a:pPr algn="ctr" indent="0" marL="0">
                        <a:buNone/>
                      </a:pPr>
                      <a:r>
                        <a:rPr lang="en-US" sz="1200" b="1" spc="300" kern="0" dirty="0">
                          <a:solidFill>
                            <a:srgbClr val="00D4FF"/>
                          </a:solidFill>
                          <a:latin typeface="Calibri" pitchFamily="34" charset="0"/>
                          <a:ea typeface="Calibri" pitchFamily="34" charset="-122"/>
                          <a:cs typeface="Calibri" pitchFamily="34" charset="-120"/>
                        </a:rPr>
                        <a:t>TIEMPO REAL</a:t>
                      </a:r>
                      <a:endParaRPr lang="en-US" sz="12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243A5E"/>
                    </a:solidFill>
                  </a:tcPr>
                </a:tc>
              </a:tr>
              <a:tr h="502920">
                <a:tc>
                  <a:txBody>
                    <a:bodyPr/>
                    <a:lstStyle/>
                    <a:p>
                      <a:pPr algn="l" indent="0" marL="0">
                        <a:buNone/>
                      </a:pPr>
                      <a:r>
                        <a:rPr lang="en-US" sz="1300" b="1" dirty="0">
                          <a:solidFill>
                            <a:srgbClr val="00FF87"/>
                          </a:solidFill>
                          <a:latin typeface="Calibri" pitchFamily="34" charset="0"/>
                          <a:ea typeface="Calibri" pitchFamily="34" charset="-122"/>
                          <a:cs typeface="Calibri" pitchFamily="34" charset="-120"/>
                        </a:rPr>
                        <a:t>YOLOv8</a:t>
                      </a:r>
                      <a:endParaRPr lang="en-US" sz="13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0F3A4D"/>
                    </a:solidFill>
                  </a:tcPr>
                </a:tc>
                <a:tc>
                  <a:txBody>
                    <a:bodyPr/>
                    <a:lstStyle/>
                    <a:p>
                      <a:pPr algn="ctr" indent="0" marL="0">
                        <a:buNone/>
                      </a:pPr>
                      <a:r>
                        <a:rPr lang="en-US" sz="1300" b="1" dirty="0">
                          <a:solidFill>
                            <a:srgbClr val="00FF87"/>
                          </a:solidFill>
                          <a:latin typeface="Calibri" pitchFamily="34" charset="0"/>
                          <a:ea typeface="Calibri" pitchFamily="34" charset="-122"/>
                          <a:cs typeface="Calibri" pitchFamily="34" charset="-120"/>
                        </a:rPr>
                        <a:t>Muy alta</a:t>
                      </a:r>
                      <a:endParaRPr lang="en-US" sz="13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0F3A4D"/>
                    </a:solidFill>
                  </a:tcPr>
                </a:tc>
                <a:tc>
                  <a:txBody>
                    <a:bodyPr/>
                    <a:lstStyle/>
                    <a:p>
                      <a:pPr algn="ctr" indent="0" marL="0">
                        <a:buNone/>
                      </a:pPr>
                      <a:r>
                        <a:rPr lang="en-US" sz="1300" b="1" dirty="0">
                          <a:solidFill>
                            <a:srgbClr val="00FF87"/>
                          </a:solidFill>
                          <a:latin typeface="Calibri" pitchFamily="34" charset="0"/>
                          <a:ea typeface="Calibri" pitchFamily="34" charset="-122"/>
                          <a:cs typeface="Calibri" pitchFamily="34" charset="-120"/>
                        </a:rPr>
                        <a:t>Muy alta</a:t>
                      </a:r>
                      <a:endParaRPr lang="en-US" sz="13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0F3A4D"/>
                    </a:solidFill>
                  </a:tcPr>
                </a:tc>
                <a:tc>
                  <a:txBody>
                    <a:bodyPr/>
                    <a:lstStyle/>
                    <a:p>
                      <a:pPr algn="ctr" indent="0" marL="0">
                        <a:buNone/>
                      </a:pPr>
                      <a:r>
                        <a:rPr lang="en-US" sz="1300" b="1" dirty="0">
                          <a:solidFill>
                            <a:srgbClr val="00FF87"/>
                          </a:solidFill>
                          <a:latin typeface="Calibri" pitchFamily="34" charset="0"/>
                          <a:ea typeface="Calibri" pitchFamily="34" charset="-122"/>
                          <a:cs typeface="Calibri" pitchFamily="34" charset="-120"/>
                        </a:rPr>
                        <a:t>Sí</a:t>
                      </a:r>
                      <a:endParaRPr lang="en-US" sz="13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0F3A4D"/>
                    </a:solidFill>
                  </a:tcPr>
                </a:tc>
              </a:tr>
              <a:tr h="502920">
                <a:tc>
                  <a:txBody>
                    <a:bodyPr/>
                    <a:lstStyle/>
                    <a:p>
                      <a:pPr algn="l" indent="0" marL="0">
                        <a:buNone/>
                      </a:pPr>
                      <a:r>
                        <a:rPr lang="en-US" sz="1300" b="1" dirty="0">
                          <a:solidFill>
                            <a:srgbClr val="F1F5F9"/>
                          </a:solidFill>
                          <a:latin typeface="Calibri" pitchFamily="34" charset="0"/>
                          <a:ea typeface="Calibri" pitchFamily="34" charset="-122"/>
                          <a:cs typeface="Calibri" pitchFamily="34" charset="-120"/>
                        </a:rPr>
                        <a:t>Faster R-CNN</a:t>
                      </a:r>
                      <a:endParaRPr lang="en-US" sz="13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B2A41"/>
                    </a:solidFill>
                  </a:tcPr>
                </a:tc>
                <a:tc>
                  <a:txBody>
                    <a:bodyPr/>
                    <a:lstStyle/>
                    <a:p>
                      <a:pPr algn="ctr" indent="0" marL="0">
                        <a:buNone/>
                      </a:pPr>
                      <a:r>
                        <a:rPr lang="en-US" sz="1300" dirty="0">
                          <a:solidFill>
                            <a:srgbClr val="F1F5F9"/>
                          </a:solidFill>
                          <a:latin typeface="Calibri" pitchFamily="34" charset="0"/>
                          <a:ea typeface="Calibri" pitchFamily="34" charset="-122"/>
                          <a:cs typeface="Calibri" pitchFamily="34" charset="-120"/>
                        </a:rPr>
                        <a:t>Baja</a:t>
                      </a:r>
                      <a:endParaRPr lang="en-US" sz="13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B2A41"/>
                    </a:solidFill>
                  </a:tcPr>
                </a:tc>
                <a:tc>
                  <a:txBody>
                    <a:bodyPr/>
                    <a:lstStyle/>
                    <a:p>
                      <a:pPr algn="ctr" indent="0" marL="0">
                        <a:buNone/>
                      </a:pPr>
                      <a:r>
                        <a:rPr lang="en-US" sz="1300" dirty="0">
                          <a:solidFill>
                            <a:srgbClr val="F1F5F9"/>
                          </a:solidFill>
                          <a:latin typeface="Calibri" pitchFamily="34" charset="0"/>
                          <a:ea typeface="Calibri" pitchFamily="34" charset="-122"/>
                          <a:cs typeface="Calibri" pitchFamily="34" charset="-120"/>
                        </a:rPr>
                        <a:t>Muy alta</a:t>
                      </a:r>
                      <a:endParaRPr lang="en-US" sz="13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B2A41"/>
                    </a:solidFill>
                  </a:tcPr>
                </a:tc>
                <a:tc>
                  <a:txBody>
                    <a:bodyPr/>
                    <a:lstStyle/>
                    <a:p>
                      <a:pPr algn="ctr" indent="0" marL="0">
                        <a:buNone/>
                      </a:pPr>
                      <a:r>
                        <a:rPr lang="en-US" sz="1300" dirty="0">
                          <a:solidFill>
                            <a:srgbClr val="F1F5F9"/>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B2A41"/>
                    </a:solidFill>
                  </a:tcPr>
                </a:tc>
              </a:tr>
              <a:tr h="502920">
                <a:tc>
                  <a:txBody>
                    <a:bodyPr/>
                    <a:lstStyle/>
                    <a:p>
                      <a:pPr algn="l" indent="0" marL="0">
                        <a:buNone/>
                      </a:pPr>
                      <a:r>
                        <a:rPr lang="en-US" sz="1300" b="1" dirty="0">
                          <a:solidFill>
                            <a:srgbClr val="F1F5F9"/>
                          </a:solidFill>
                          <a:latin typeface="Calibri" pitchFamily="34" charset="0"/>
                          <a:ea typeface="Calibri" pitchFamily="34" charset="-122"/>
                          <a:cs typeface="Calibri" pitchFamily="34" charset="-120"/>
                        </a:rPr>
                        <a:t>SSD MobileNet</a:t>
                      </a:r>
                      <a:endParaRPr lang="en-US" sz="13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B2A41"/>
                    </a:solidFill>
                  </a:tcPr>
                </a:tc>
                <a:tc>
                  <a:txBody>
                    <a:bodyPr/>
                    <a:lstStyle/>
                    <a:p>
                      <a:pPr algn="ctr" indent="0" marL="0">
                        <a:buNone/>
                      </a:pPr>
                      <a:r>
                        <a:rPr lang="en-US" sz="1300" dirty="0">
                          <a:solidFill>
                            <a:srgbClr val="F1F5F9"/>
                          </a:solidFill>
                          <a:latin typeface="Calibri" pitchFamily="34" charset="0"/>
                          <a:ea typeface="Calibri" pitchFamily="34" charset="-122"/>
                          <a:cs typeface="Calibri" pitchFamily="34" charset="-120"/>
                        </a:rPr>
                        <a:t>Alta</a:t>
                      </a:r>
                      <a:endParaRPr lang="en-US" sz="13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B2A41"/>
                    </a:solidFill>
                  </a:tcPr>
                </a:tc>
                <a:tc>
                  <a:txBody>
                    <a:bodyPr/>
                    <a:lstStyle/>
                    <a:p>
                      <a:pPr algn="ctr" indent="0" marL="0">
                        <a:buNone/>
                      </a:pPr>
                      <a:r>
                        <a:rPr lang="en-US" sz="1300" dirty="0">
                          <a:solidFill>
                            <a:srgbClr val="F1F5F9"/>
                          </a:solidFill>
                          <a:latin typeface="Calibri" pitchFamily="34" charset="0"/>
                          <a:ea typeface="Calibri" pitchFamily="34" charset="-122"/>
                          <a:cs typeface="Calibri" pitchFamily="34" charset="-120"/>
                        </a:rPr>
                        <a:t>Media</a:t>
                      </a:r>
                      <a:endParaRPr lang="en-US" sz="13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B2A41"/>
                    </a:solidFill>
                  </a:tcPr>
                </a:tc>
                <a:tc>
                  <a:txBody>
                    <a:bodyPr/>
                    <a:lstStyle/>
                    <a:p>
                      <a:pPr algn="ctr" indent="0" marL="0">
                        <a:buNone/>
                      </a:pPr>
                      <a:r>
                        <a:rPr lang="en-US" sz="1300" dirty="0">
                          <a:solidFill>
                            <a:srgbClr val="F1F5F9"/>
                          </a:solidFill>
                          <a:latin typeface="Calibri" pitchFamily="34" charset="0"/>
                          <a:ea typeface="Calibri" pitchFamily="34" charset="-122"/>
                          <a:cs typeface="Calibri" pitchFamily="34" charset="-120"/>
                        </a:rPr>
                        <a:t>Limitado</a:t>
                      </a:r>
                      <a:endParaRPr lang="en-US" sz="13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B2A41"/>
                    </a:solidFill>
                  </a:tcPr>
                </a:tc>
              </a:tr>
              <a:tr h="502920">
                <a:tc>
                  <a:txBody>
                    <a:bodyPr/>
                    <a:lstStyle/>
                    <a:p>
                      <a:pPr algn="l" indent="0" marL="0">
                        <a:buNone/>
                      </a:pPr>
                      <a:r>
                        <a:rPr lang="en-US" sz="1300" b="1" dirty="0">
                          <a:solidFill>
                            <a:srgbClr val="F1F5F9"/>
                          </a:solidFill>
                          <a:latin typeface="Calibri" pitchFamily="34" charset="0"/>
                          <a:ea typeface="Calibri" pitchFamily="34" charset="-122"/>
                          <a:cs typeface="Calibri" pitchFamily="34" charset="-120"/>
                        </a:rPr>
                        <a:t>Haar Cascades</a:t>
                      </a:r>
                      <a:endParaRPr lang="en-US" sz="13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B2A41"/>
                    </a:solidFill>
                  </a:tcPr>
                </a:tc>
                <a:tc>
                  <a:txBody>
                    <a:bodyPr/>
                    <a:lstStyle/>
                    <a:p>
                      <a:pPr algn="ctr" indent="0" marL="0">
                        <a:buNone/>
                      </a:pPr>
                      <a:r>
                        <a:rPr lang="en-US" sz="1300" dirty="0">
                          <a:solidFill>
                            <a:srgbClr val="F1F5F9"/>
                          </a:solidFill>
                          <a:latin typeface="Calibri" pitchFamily="34" charset="0"/>
                          <a:ea typeface="Calibri" pitchFamily="34" charset="-122"/>
                          <a:cs typeface="Calibri" pitchFamily="34" charset="-120"/>
                        </a:rPr>
                        <a:t>Muy alta</a:t>
                      </a:r>
                      <a:endParaRPr lang="en-US" sz="13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B2A41"/>
                    </a:solidFill>
                  </a:tcPr>
                </a:tc>
                <a:tc>
                  <a:txBody>
                    <a:bodyPr/>
                    <a:lstStyle/>
                    <a:p>
                      <a:pPr algn="ctr" indent="0" marL="0">
                        <a:buNone/>
                      </a:pPr>
                      <a:r>
                        <a:rPr lang="en-US" sz="1300" dirty="0">
                          <a:solidFill>
                            <a:srgbClr val="F1F5F9"/>
                          </a:solidFill>
                          <a:latin typeface="Calibri" pitchFamily="34" charset="0"/>
                          <a:ea typeface="Calibri" pitchFamily="34" charset="-122"/>
                          <a:cs typeface="Calibri" pitchFamily="34" charset="-120"/>
                        </a:rPr>
                        <a:t>Baja</a:t>
                      </a:r>
                      <a:endParaRPr lang="en-US" sz="13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B2A41"/>
                    </a:solidFill>
                  </a:tcPr>
                </a:tc>
                <a:tc>
                  <a:txBody>
                    <a:bodyPr/>
                    <a:lstStyle/>
                    <a:p>
                      <a:pPr algn="ctr" indent="0" marL="0">
                        <a:buNone/>
                      </a:pPr>
                      <a:r>
                        <a:rPr lang="en-US" sz="1300" dirty="0">
                          <a:solidFill>
                            <a:srgbClr val="F1F5F9"/>
                          </a:solidFill>
                          <a:latin typeface="Calibri" pitchFamily="34" charset="0"/>
                          <a:ea typeface="Calibri" pitchFamily="34" charset="-122"/>
                          <a:cs typeface="Calibri" pitchFamily="34" charset="-120"/>
                        </a:rPr>
                        <a:t>Con errores</a:t>
                      </a:r>
                      <a:endParaRPr lang="en-US" sz="13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B2A41"/>
                    </a:solidFill>
                  </a:tcPr>
                </a:tc>
              </a:tr>
              <a:tr h="502920">
                <a:tc>
                  <a:txBody>
                    <a:bodyPr/>
                    <a:lstStyle/>
                    <a:p>
                      <a:pPr algn="l" indent="0" marL="0">
                        <a:buNone/>
                      </a:pPr>
                      <a:r>
                        <a:rPr lang="en-US" sz="1300" b="1" dirty="0">
                          <a:solidFill>
                            <a:srgbClr val="F1F5F9"/>
                          </a:solidFill>
                          <a:latin typeface="Calibri" pitchFamily="34" charset="0"/>
                          <a:ea typeface="Calibri" pitchFamily="34" charset="-122"/>
                          <a:cs typeface="Calibri" pitchFamily="34" charset="-120"/>
                        </a:rPr>
                        <a:t>DETR</a:t>
                      </a:r>
                      <a:endParaRPr lang="en-US" sz="13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B2A41"/>
                    </a:solidFill>
                  </a:tcPr>
                </a:tc>
                <a:tc>
                  <a:txBody>
                    <a:bodyPr/>
                    <a:lstStyle/>
                    <a:p>
                      <a:pPr algn="ctr" indent="0" marL="0">
                        <a:buNone/>
                      </a:pPr>
                      <a:r>
                        <a:rPr lang="en-US" sz="1300" dirty="0">
                          <a:solidFill>
                            <a:srgbClr val="F1F5F9"/>
                          </a:solidFill>
                          <a:latin typeface="Calibri" pitchFamily="34" charset="0"/>
                          <a:ea typeface="Calibri" pitchFamily="34" charset="-122"/>
                          <a:cs typeface="Calibri" pitchFamily="34" charset="-120"/>
                        </a:rPr>
                        <a:t>Media</a:t>
                      </a:r>
                      <a:endParaRPr lang="en-US" sz="13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B2A41"/>
                    </a:solidFill>
                  </a:tcPr>
                </a:tc>
                <a:tc>
                  <a:txBody>
                    <a:bodyPr/>
                    <a:lstStyle/>
                    <a:p>
                      <a:pPr algn="ctr" indent="0" marL="0">
                        <a:buNone/>
                      </a:pPr>
                      <a:r>
                        <a:rPr lang="en-US" sz="1300" dirty="0">
                          <a:solidFill>
                            <a:srgbClr val="F1F5F9"/>
                          </a:solidFill>
                          <a:latin typeface="Calibri" pitchFamily="34" charset="0"/>
                          <a:ea typeface="Calibri" pitchFamily="34" charset="-122"/>
                          <a:cs typeface="Calibri" pitchFamily="34" charset="-120"/>
                        </a:rPr>
                        <a:t>Alta</a:t>
                      </a:r>
                      <a:endParaRPr lang="en-US" sz="13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B2A41"/>
                    </a:solidFill>
                  </a:tcPr>
                </a:tc>
                <a:tc>
                  <a:txBody>
                    <a:bodyPr/>
                    <a:lstStyle/>
                    <a:p>
                      <a:pPr algn="ctr" indent="0" marL="0">
                        <a:buNone/>
                      </a:pPr>
                      <a:r>
                        <a:rPr lang="en-US" sz="1300" dirty="0">
                          <a:solidFill>
                            <a:srgbClr val="F1F5F9"/>
                          </a:solidFill>
                          <a:latin typeface="Calibri" pitchFamily="34" charset="0"/>
                          <a:ea typeface="Calibri" pitchFamily="34" charset="-122"/>
                          <a:cs typeface="Calibri" pitchFamily="34" charset="-120"/>
                        </a:rPr>
                        <a:t>Con dificultades</a:t>
                      </a:r>
                      <a:endParaRPr lang="en-US" sz="13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B2A41"/>
                    </a:solidFill>
                  </a:tcPr>
                </a:tc>
              </a:tr>
            </a:tbl>
          </a:graphicData>
        </a:graphic>
      </p:graphicFrame>
      <p:sp>
        <p:nvSpPr>
          <p:cNvPr id="8" name="Shape 5"/>
          <p:cNvSpPr/>
          <p:nvPr/>
        </p:nvSpPr>
        <p:spPr>
          <a:xfrm>
            <a:off x="8138160" y="1874520"/>
            <a:ext cx="3520440" cy="3383280"/>
          </a:xfrm>
          <a:prstGeom prst="rect">
            <a:avLst/>
          </a:prstGeom>
          <a:solidFill>
            <a:srgbClr val="1B2A41"/>
          </a:solidFill>
          <a:ln/>
        </p:spPr>
      </p:sp>
      <p:sp>
        <p:nvSpPr>
          <p:cNvPr id="9" name="Shape 6"/>
          <p:cNvSpPr/>
          <p:nvPr/>
        </p:nvSpPr>
        <p:spPr>
          <a:xfrm>
            <a:off x="8138160" y="1874520"/>
            <a:ext cx="3520440" cy="502920"/>
          </a:xfrm>
          <a:prstGeom prst="rect">
            <a:avLst/>
          </a:prstGeom>
          <a:solidFill>
            <a:srgbClr val="00FF87"/>
          </a:solidFill>
          <a:ln/>
        </p:spPr>
      </p:sp>
      <p:sp>
        <p:nvSpPr>
          <p:cNvPr id="10" name="Text 7"/>
          <p:cNvSpPr/>
          <p:nvPr/>
        </p:nvSpPr>
        <p:spPr>
          <a:xfrm>
            <a:off x="8138160" y="1874520"/>
            <a:ext cx="3520440" cy="502920"/>
          </a:xfrm>
          <a:prstGeom prst="rect">
            <a:avLst/>
          </a:prstGeom>
          <a:noFill/>
          <a:ln/>
        </p:spPr>
        <p:txBody>
          <a:bodyPr wrap="square" lIns="0" tIns="0" rIns="0" bIns="0" rtlCol="0" anchor="ctr"/>
          <a:lstStyle/>
          <a:p>
            <a:pPr algn="ctr" indent="0" marL="0">
              <a:buNone/>
            </a:pPr>
            <a:r>
              <a:rPr lang="en-US" sz="1300" b="1" spc="300" kern="0" dirty="0">
                <a:solidFill>
                  <a:srgbClr val="0A1628"/>
                </a:solidFill>
                <a:latin typeface="Calibri" pitchFamily="34" charset="0"/>
                <a:ea typeface="Calibri" pitchFamily="34" charset="-122"/>
                <a:cs typeface="Calibri" pitchFamily="34" charset="-120"/>
              </a:rPr>
              <a:t>NUESTRA ELECCIÓN</a:t>
            </a:r>
            <a:endParaRPr lang="en-US" sz="1300" dirty="0"/>
          </a:p>
        </p:txBody>
      </p:sp>
      <p:pic>
        <p:nvPicPr>
          <p:cNvPr id="11" name="Image 0" descr="preencoded.png">    </p:cNvPr>
          <p:cNvPicPr>
            <a:picLocks noChangeAspect="1"/>
          </p:cNvPicPr>
          <p:nvPr/>
        </p:nvPicPr>
        <p:blipFill>
          <a:blip r:embed="rId1"/>
          <a:stretch>
            <a:fillRect/>
          </a:stretch>
        </p:blipFill>
        <p:spPr>
          <a:xfrm>
            <a:off x="9646920" y="2606040"/>
            <a:ext cx="548640" cy="548640"/>
          </a:xfrm>
          <a:prstGeom prst="rect">
            <a:avLst/>
          </a:prstGeom>
        </p:spPr>
      </p:pic>
      <p:sp>
        <p:nvSpPr>
          <p:cNvPr id="12" name="Text 8"/>
          <p:cNvSpPr/>
          <p:nvPr/>
        </p:nvSpPr>
        <p:spPr>
          <a:xfrm>
            <a:off x="8138160" y="3200400"/>
            <a:ext cx="3520440" cy="457200"/>
          </a:xfrm>
          <a:prstGeom prst="rect">
            <a:avLst/>
          </a:prstGeom>
          <a:noFill/>
          <a:ln/>
        </p:spPr>
        <p:txBody>
          <a:bodyPr wrap="square" lIns="0" tIns="0" rIns="0" bIns="0" rtlCol="0" anchor="ctr"/>
          <a:lstStyle/>
          <a:p>
            <a:pPr algn="ctr" indent="0" marL="0">
              <a:buNone/>
            </a:pPr>
            <a:r>
              <a:rPr lang="en-US" sz="2200" b="1" dirty="0">
                <a:solidFill>
                  <a:srgbClr val="00D4FF"/>
                </a:solidFill>
                <a:latin typeface="Arial Black" pitchFamily="34" charset="0"/>
                <a:ea typeface="Arial Black" pitchFamily="34" charset="-122"/>
                <a:cs typeface="Arial Black" pitchFamily="34" charset="-120"/>
              </a:rPr>
              <a:t>YOLOv8</a:t>
            </a:r>
            <a:endParaRPr lang="en-US" sz="2200" dirty="0"/>
          </a:p>
        </p:txBody>
      </p:sp>
      <p:sp>
        <p:nvSpPr>
          <p:cNvPr id="13" name="Text 9"/>
          <p:cNvSpPr/>
          <p:nvPr/>
        </p:nvSpPr>
        <p:spPr>
          <a:xfrm>
            <a:off x="8321040" y="3703320"/>
            <a:ext cx="3154680" cy="1463040"/>
          </a:xfrm>
          <a:prstGeom prst="rect">
            <a:avLst/>
          </a:prstGeom>
          <a:noFill/>
          <a:ln/>
        </p:spPr>
        <p:txBody>
          <a:bodyPr wrap="square" lIns="0" tIns="0" rIns="0" bIns="0" rtlCol="0" anchor="t"/>
          <a:lstStyle/>
          <a:p>
            <a:pPr algn="ctr" indent="0" marL="0">
              <a:buNone/>
            </a:pPr>
            <a:r>
              <a:rPr lang="en-US" sz="1200" dirty="0">
                <a:solidFill>
                  <a:srgbClr val="F1F5F9"/>
                </a:solidFill>
                <a:latin typeface="Calibri" pitchFamily="34" charset="0"/>
                <a:ea typeface="Calibri" pitchFamily="34" charset="-122"/>
                <a:cs typeface="Calibri" pitchFamily="34" charset="-120"/>
              </a:rPr>
              <a:t>Mejor equilibrio entre velocidad y precisión.</a:t>
            </a:r>
            <a:endParaRPr lang="en-US" sz="1200" dirty="0"/>
          </a:p>
          <a:p>
            <a:pPr algn="ctr" indent="0" marL="0">
              <a:buNone/>
            </a:pPr>
            <a:endParaRPr lang="en-US" sz="1200" dirty="0"/>
          </a:p>
          <a:p>
            <a:pPr algn="ctr" indent="0" marL="0">
              <a:buNone/>
            </a:pPr>
            <a:r>
              <a:rPr lang="en-US" sz="1200" dirty="0">
                <a:solidFill>
                  <a:srgbClr val="F1F5F9"/>
                </a:solidFill>
                <a:latin typeface="Calibri" pitchFamily="34" charset="0"/>
                <a:ea typeface="Calibri" pitchFamily="34" charset="-122"/>
                <a:cs typeface="Calibri" pitchFamily="34" charset="-120"/>
              </a:rPr>
              <a:t>Procesa &gt;30 FPS en GPU, detecta bien personas y balón y se integra de forma natural con Supervision y ByteTrack.</a:t>
            </a:r>
            <a:endParaRPr lang="en-US" sz="1200" dirty="0"/>
          </a:p>
        </p:txBody>
      </p:sp>
      <p:sp>
        <p:nvSpPr>
          <p:cNvPr id="14" name="Text 10"/>
          <p:cNvSpPr/>
          <p:nvPr/>
        </p:nvSpPr>
        <p:spPr>
          <a:xfrm>
            <a:off x="548640" y="5577840"/>
            <a:ext cx="11064240" cy="548640"/>
          </a:xfrm>
          <a:prstGeom prst="rect">
            <a:avLst/>
          </a:prstGeom>
          <a:noFill/>
          <a:ln/>
        </p:spPr>
        <p:txBody>
          <a:bodyPr wrap="square" lIns="0" tIns="0" rIns="0" bIns="0" rtlCol="0" anchor="t"/>
          <a:lstStyle/>
          <a:p>
            <a:pPr indent="0" marL="0">
              <a:buNone/>
            </a:pPr>
            <a:r>
              <a:rPr lang="en-US" sz="1200" i="1" dirty="0">
                <a:solidFill>
                  <a:srgbClr val="94A3B8"/>
                </a:solidFill>
                <a:latin typeface="Calibri" pitchFamily="34" charset="0"/>
                <a:ea typeface="Calibri" pitchFamily="34" charset="-122"/>
                <a:cs typeface="Calibri" pitchFamily="34" charset="-120"/>
              </a:rPr>
              <a:t>Haar Cascades quedó descartada por falsos positivos · Faster R-CNN, demasiado lenta para 25 FPS · SSD pierde precisión en objetos pequeños como el balón.</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713232" y="292608"/>
            <a:ext cx="4572000" cy="274320"/>
          </a:xfrm>
          <a:prstGeom prst="rect">
            <a:avLst/>
          </a:prstGeom>
          <a:noFill/>
          <a:ln/>
        </p:spPr>
        <p:txBody>
          <a:bodyPr wrap="square" lIns="0" tIns="0" rIns="0" bIns="0" rtlCol="0" anchor="ctr"/>
          <a:lstStyle/>
          <a:p>
            <a:pPr indent="0" marL="0">
              <a:buNone/>
            </a:pPr>
            <a:r>
              <a:rPr lang="en-US" sz="1000" b="1" spc="400" kern="0" dirty="0">
                <a:solidFill>
                  <a:srgbClr val="00D4FF"/>
                </a:solidFill>
                <a:latin typeface="Calibri" pitchFamily="34" charset="0"/>
                <a:ea typeface="Calibri" pitchFamily="34" charset="-122"/>
                <a:cs typeface="Calibri" pitchFamily="34" charset="-120"/>
              </a:rPr>
              <a:t>VISIÓN ARTIFICIAL · UPV</a:t>
            </a:r>
            <a:endParaRPr lang="en-US" sz="1000" dirty="0"/>
          </a:p>
        </p:txBody>
      </p:sp>
      <p:sp>
        <p:nvSpPr>
          <p:cNvPr id="3" name="Text 1"/>
          <p:cNvSpPr/>
          <p:nvPr/>
        </p:nvSpPr>
        <p:spPr>
          <a:xfrm>
            <a:off x="548640" y="594360"/>
            <a:ext cx="10058400" cy="731520"/>
          </a:xfrm>
          <a:prstGeom prst="rect">
            <a:avLst/>
          </a:prstGeom>
          <a:noFill/>
          <a:ln/>
        </p:spPr>
        <p:txBody>
          <a:bodyPr wrap="square" lIns="0" tIns="0" rIns="0" bIns="0" rtlCol="0" anchor="ctr"/>
          <a:lstStyle/>
          <a:p>
            <a:pPr indent="0" marL="0">
              <a:buNone/>
            </a:pPr>
            <a:r>
              <a:rPr lang="en-US" sz="3200" b="1" dirty="0">
                <a:solidFill>
                  <a:srgbClr val="F1F5F9"/>
                </a:solidFill>
                <a:latin typeface="Calibri" pitchFamily="34" charset="0"/>
                <a:ea typeface="Calibri" pitchFamily="34" charset="-122"/>
                <a:cs typeface="Calibri" pitchFamily="34" charset="-120"/>
              </a:rPr>
              <a:t>Resultados sobre 5 min de partido 1080p</a:t>
            </a:r>
            <a:endParaRPr lang="en-US" sz="3200" dirty="0"/>
          </a:p>
        </p:txBody>
      </p:sp>
      <p:sp>
        <p:nvSpPr>
          <p:cNvPr id="4" name="Text 2"/>
          <p:cNvSpPr/>
          <p:nvPr/>
        </p:nvSpPr>
        <p:spPr>
          <a:xfrm>
            <a:off x="548640" y="1280160"/>
            <a:ext cx="10058400" cy="365760"/>
          </a:xfrm>
          <a:prstGeom prst="rect">
            <a:avLst/>
          </a:prstGeom>
          <a:noFill/>
          <a:ln/>
        </p:spPr>
        <p:txBody>
          <a:bodyPr wrap="square" lIns="0" tIns="0" rIns="0" bIns="0" rtlCol="0" anchor="ctr"/>
          <a:lstStyle/>
          <a:p>
            <a:pPr indent="0" marL="0">
              <a:buNone/>
            </a:pPr>
            <a:r>
              <a:rPr lang="en-US" sz="1400" i="1" dirty="0">
                <a:solidFill>
                  <a:srgbClr val="94A3B8"/>
                </a:solidFill>
                <a:latin typeface="Calibri" pitchFamily="34" charset="0"/>
                <a:ea typeface="Calibri" pitchFamily="34" charset="-122"/>
                <a:cs typeface="Calibri" pitchFamily="34" charset="-120"/>
              </a:rPr>
              <a:t>Probado en RTX 3060 · 12 GB VRAM</a:t>
            </a:r>
            <a:endParaRPr lang="en-US" sz="1400" dirty="0"/>
          </a:p>
        </p:txBody>
      </p:sp>
      <p:sp>
        <p:nvSpPr>
          <p:cNvPr id="5" name="Text 3"/>
          <p:cNvSpPr/>
          <p:nvPr/>
        </p:nvSpPr>
        <p:spPr>
          <a:xfrm>
            <a:off x="11155680" y="6446520"/>
            <a:ext cx="640080" cy="274320"/>
          </a:xfrm>
          <a:prstGeom prst="rect">
            <a:avLst/>
          </a:prstGeom>
          <a:noFill/>
          <a:ln/>
        </p:spPr>
        <p:txBody>
          <a:bodyPr wrap="square" lIns="0" tIns="0" rIns="0" bIns="0" rtlCol="0" anchor="ctr"/>
          <a:lstStyle/>
          <a:p>
            <a:pPr algn="r" indent="0" marL="0">
              <a:buNone/>
            </a:pPr>
            <a:r>
              <a:rPr lang="en-US" sz="1000" dirty="0">
                <a:solidFill>
                  <a:srgbClr val="94A3B8"/>
                </a:solidFill>
                <a:latin typeface="Consolas" pitchFamily="34" charset="0"/>
                <a:ea typeface="Consolas" pitchFamily="34" charset="-122"/>
                <a:cs typeface="Consolas" pitchFamily="34" charset="-120"/>
              </a:rPr>
              <a:t>6 / 9</a:t>
            </a:r>
            <a:endParaRPr lang="en-US" sz="1000" dirty="0"/>
          </a:p>
        </p:txBody>
      </p:sp>
      <p:sp>
        <p:nvSpPr>
          <p:cNvPr id="6" name="Shape 4"/>
          <p:cNvSpPr/>
          <p:nvPr/>
        </p:nvSpPr>
        <p:spPr>
          <a:xfrm>
            <a:off x="548640" y="320040"/>
            <a:ext cx="45720" cy="164592"/>
          </a:xfrm>
          <a:prstGeom prst="rect">
            <a:avLst/>
          </a:prstGeom>
          <a:solidFill>
            <a:srgbClr val="00D4FF"/>
          </a:solidFill>
          <a:ln/>
        </p:spPr>
      </p:sp>
      <p:sp>
        <p:nvSpPr>
          <p:cNvPr id="7" name="Shape 5"/>
          <p:cNvSpPr/>
          <p:nvPr/>
        </p:nvSpPr>
        <p:spPr>
          <a:xfrm>
            <a:off x="548640" y="1874520"/>
            <a:ext cx="3566160" cy="1828800"/>
          </a:xfrm>
          <a:prstGeom prst="rect">
            <a:avLst/>
          </a:prstGeom>
          <a:solidFill>
            <a:srgbClr val="1B2A41"/>
          </a:solidFill>
          <a:ln/>
        </p:spPr>
      </p:sp>
      <p:sp>
        <p:nvSpPr>
          <p:cNvPr id="8" name="Text 6"/>
          <p:cNvSpPr/>
          <p:nvPr/>
        </p:nvSpPr>
        <p:spPr>
          <a:xfrm>
            <a:off x="548640" y="2011680"/>
            <a:ext cx="3566160" cy="1097280"/>
          </a:xfrm>
          <a:prstGeom prst="rect">
            <a:avLst/>
          </a:prstGeom>
          <a:noFill/>
          <a:ln/>
        </p:spPr>
        <p:txBody>
          <a:bodyPr wrap="square" lIns="0" tIns="0" rIns="0" bIns="0" rtlCol="0" anchor="ctr"/>
          <a:lstStyle/>
          <a:p>
            <a:pPr algn="ctr" indent="0" marL="0">
              <a:buNone/>
            </a:pPr>
            <a:r>
              <a:rPr lang="en-US" sz="7200" b="1" dirty="0">
                <a:solidFill>
                  <a:srgbClr val="00D4FF"/>
                </a:solidFill>
                <a:latin typeface="Arial Black" pitchFamily="34" charset="0"/>
                <a:ea typeface="Arial Black" pitchFamily="34" charset="-122"/>
                <a:cs typeface="Arial Black" pitchFamily="34" charset="-120"/>
              </a:rPr>
              <a:t>47</a:t>
            </a:r>
            <a:endParaRPr lang="en-US" sz="7200" dirty="0"/>
          </a:p>
        </p:txBody>
      </p:sp>
      <p:sp>
        <p:nvSpPr>
          <p:cNvPr id="9" name="Text 7"/>
          <p:cNvSpPr/>
          <p:nvPr/>
        </p:nvSpPr>
        <p:spPr>
          <a:xfrm>
            <a:off x="548640" y="2011680"/>
            <a:ext cx="3566160" cy="1097280"/>
          </a:xfrm>
          <a:prstGeom prst="rect">
            <a:avLst/>
          </a:prstGeom>
          <a:noFill/>
          <a:ln/>
        </p:spPr>
        <p:txBody>
          <a:bodyPr wrap="square" lIns="0" tIns="0" rIns="0" bIns="0" rtlCol="0" anchor="t"/>
          <a:lstStyle/>
          <a:p>
            <a:pPr algn="r" indent="0" marL="0">
              <a:buNone/>
            </a:pPr>
            <a:r>
              <a:rPr lang="en-US" sz="2200" b="1" dirty="0">
                <a:solidFill>
                  <a:srgbClr val="94A3B8"/>
                </a:solidFill>
                <a:latin typeface="Calibri" pitchFamily="34" charset="0"/>
                <a:ea typeface="Calibri" pitchFamily="34" charset="-122"/>
                <a:cs typeface="Calibri" pitchFamily="34" charset="-120"/>
              </a:rPr>
              <a:t>FPS</a:t>
            </a:r>
            <a:endParaRPr lang="en-US" sz="2200" dirty="0"/>
          </a:p>
        </p:txBody>
      </p:sp>
      <p:sp>
        <p:nvSpPr>
          <p:cNvPr id="10" name="Text 8"/>
          <p:cNvSpPr/>
          <p:nvPr/>
        </p:nvSpPr>
        <p:spPr>
          <a:xfrm>
            <a:off x="731520" y="3108960"/>
            <a:ext cx="3200400" cy="502920"/>
          </a:xfrm>
          <a:prstGeom prst="rect">
            <a:avLst/>
          </a:prstGeom>
          <a:noFill/>
          <a:ln/>
        </p:spPr>
        <p:txBody>
          <a:bodyPr wrap="square" lIns="0" tIns="0" rIns="0" bIns="0" rtlCol="0" anchor="t"/>
          <a:lstStyle/>
          <a:p>
            <a:pPr algn="ctr" indent="0" marL="0">
              <a:buNone/>
            </a:pPr>
            <a:r>
              <a:rPr lang="en-US" sz="1200" dirty="0">
                <a:solidFill>
                  <a:srgbClr val="F1F5F9"/>
                </a:solidFill>
                <a:latin typeface="Calibri" pitchFamily="34" charset="0"/>
                <a:ea typeface="Calibri" pitchFamily="34" charset="-122"/>
                <a:cs typeface="Calibri" pitchFamily="34" charset="-120"/>
              </a:rPr>
              <a:t>con GPU · ~4.7× tiempo real</a:t>
            </a:r>
            <a:endParaRPr lang="en-US" sz="1200" dirty="0"/>
          </a:p>
        </p:txBody>
      </p:sp>
      <p:sp>
        <p:nvSpPr>
          <p:cNvPr id="11" name="Shape 9"/>
          <p:cNvSpPr/>
          <p:nvPr/>
        </p:nvSpPr>
        <p:spPr>
          <a:xfrm>
            <a:off x="4297680" y="1874520"/>
            <a:ext cx="3566160" cy="1828800"/>
          </a:xfrm>
          <a:prstGeom prst="rect">
            <a:avLst/>
          </a:prstGeom>
          <a:solidFill>
            <a:srgbClr val="1B2A41"/>
          </a:solidFill>
          <a:ln/>
        </p:spPr>
      </p:sp>
      <p:sp>
        <p:nvSpPr>
          <p:cNvPr id="12" name="Text 10"/>
          <p:cNvSpPr/>
          <p:nvPr/>
        </p:nvSpPr>
        <p:spPr>
          <a:xfrm>
            <a:off x="4297680" y="2011680"/>
            <a:ext cx="3566160" cy="1097280"/>
          </a:xfrm>
          <a:prstGeom prst="rect">
            <a:avLst/>
          </a:prstGeom>
          <a:noFill/>
          <a:ln/>
        </p:spPr>
        <p:txBody>
          <a:bodyPr wrap="square" lIns="0" tIns="0" rIns="0" bIns="0" rtlCol="0" anchor="ctr"/>
          <a:lstStyle/>
          <a:p>
            <a:pPr algn="ctr" indent="0" marL="0">
              <a:buNone/>
            </a:pPr>
            <a:r>
              <a:rPr lang="en-US" sz="7200" b="1" dirty="0">
                <a:solidFill>
                  <a:srgbClr val="00FF87"/>
                </a:solidFill>
                <a:latin typeface="Arial Black" pitchFamily="34" charset="0"/>
                <a:ea typeface="Arial Black" pitchFamily="34" charset="-122"/>
                <a:cs typeface="Arial Black" pitchFamily="34" charset="-120"/>
              </a:rPr>
              <a:t>90</a:t>
            </a:r>
            <a:endParaRPr lang="en-US" sz="7200" dirty="0"/>
          </a:p>
        </p:txBody>
      </p:sp>
      <p:sp>
        <p:nvSpPr>
          <p:cNvPr id="13" name="Text 11"/>
          <p:cNvSpPr/>
          <p:nvPr/>
        </p:nvSpPr>
        <p:spPr>
          <a:xfrm>
            <a:off x="4297680" y="2011680"/>
            <a:ext cx="3566160" cy="1097280"/>
          </a:xfrm>
          <a:prstGeom prst="rect">
            <a:avLst/>
          </a:prstGeom>
          <a:noFill/>
          <a:ln/>
        </p:spPr>
        <p:txBody>
          <a:bodyPr wrap="square" lIns="0" tIns="0" rIns="0" bIns="0" rtlCol="0" anchor="t"/>
          <a:lstStyle/>
          <a:p>
            <a:pPr algn="r" indent="0" marL="0">
              <a:buNone/>
            </a:pPr>
            <a:r>
              <a:rPr lang="en-US" sz="2200" b="1" dirty="0">
                <a:solidFill>
                  <a:srgbClr val="94A3B8"/>
                </a:solidFill>
                <a:latin typeface="Calibri" pitchFamily="34" charset="0"/>
                <a:ea typeface="Calibri" pitchFamily="34" charset="-122"/>
                <a:cs typeface="Calibri" pitchFamily="34" charset="-120"/>
              </a:rPr>
              <a:t>%</a:t>
            </a:r>
            <a:endParaRPr lang="en-US" sz="2200" dirty="0"/>
          </a:p>
        </p:txBody>
      </p:sp>
      <p:sp>
        <p:nvSpPr>
          <p:cNvPr id="14" name="Text 12"/>
          <p:cNvSpPr/>
          <p:nvPr/>
        </p:nvSpPr>
        <p:spPr>
          <a:xfrm>
            <a:off x="4480560" y="3108960"/>
            <a:ext cx="3200400" cy="502920"/>
          </a:xfrm>
          <a:prstGeom prst="rect">
            <a:avLst/>
          </a:prstGeom>
          <a:noFill/>
          <a:ln/>
        </p:spPr>
        <p:txBody>
          <a:bodyPr wrap="square" lIns="0" tIns="0" rIns="0" bIns="0" rtlCol="0" anchor="t"/>
          <a:lstStyle/>
          <a:p>
            <a:pPr algn="ctr" indent="0" marL="0">
              <a:buNone/>
            </a:pPr>
            <a:r>
              <a:rPr lang="en-US" sz="1200" dirty="0">
                <a:solidFill>
                  <a:srgbClr val="F1F5F9"/>
                </a:solidFill>
                <a:latin typeface="Calibri" pitchFamily="34" charset="0"/>
                <a:ea typeface="Calibri" pitchFamily="34" charset="-122"/>
                <a:cs typeface="Calibri" pitchFamily="34" charset="-120"/>
              </a:rPr>
              <a:t>precisión detectando jugadores</a:t>
            </a:r>
            <a:endParaRPr lang="en-US" sz="1200" dirty="0"/>
          </a:p>
        </p:txBody>
      </p:sp>
      <p:sp>
        <p:nvSpPr>
          <p:cNvPr id="15" name="Shape 13"/>
          <p:cNvSpPr/>
          <p:nvPr/>
        </p:nvSpPr>
        <p:spPr>
          <a:xfrm>
            <a:off x="8046720" y="1874520"/>
            <a:ext cx="3566160" cy="1828800"/>
          </a:xfrm>
          <a:prstGeom prst="rect">
            <a:avLst/>
          </a:prstGeom>
          <a:solidFill>
            <a:srgbClr val="1B2A41"/>
          </a:solidFill>
          <a:ln/>
        </p:spPr>
      </p:sp>
      <p:sp>
        <p:nvSpPr>
          <p:cNvPr id="16" name="Text 14"/>
          <p:cNvSpPr/>
          <p:nvPr/>
        </p:nvSpPr>
        <p:spPr>
          <a:xfrm>
            <a:off x="8046720" y="2011680"/>
            <a:ext cx="3566160" cy="1097280"/>
          </a:xfrm>
          <a:prstGeom prst="rect">
            <a:avLst/>
          </a:prstGeom>
          <a:noFill/>
          <a:ln/>
        </p:spPr>
        <p:txBody>
          <a:bodyPr wrap="square" lIns="0" tIns="0" rIns="0" bIns="0" rtlCol="0" anchor="ctr"/>
          <a:lstStyle/>
          <a:p>
            <a:pPr algn="ctr" indent="0" marL="0">
              <a:buNone/>
            </a:pPr>
            <a:r>
              <a:rPr lang="en-US" sz="7200" b="1" dirty="0">
                <a:solidFill>
                  <a:srgbClr val="00D4FF"/>
                </a:solidFill>
                <a:latin typeface="Arial Black" pitchFamily="34" charset="0"/>
                <a:ea typeface="Arial Black" pitchFamily="34" charset="-122"/>
                <a:cs typeface="Arial Black" pitchFamily="34" charset="-120"/>
              </a:rPr>
              <a:t>85</a:t>
            </a:r>
            <a:endParaRPr lang="en-US" sz="7200" dirty="0"/>
          </a:p>
        </p:txBody>
      </p:sp>
      <p:sp>
        <p:nvSpPr>
          <p:cNvPr id="17" name="Text 15"/>
          <p:cNvSpPr/>
          <p:nvPr/>
        </p:nvSpPr>
        <p:spPr>
          <a:xfrm>
            <a:off x="8046720" y="2011680"/>
            <a:ext cx="3566160" cy="1097280"/>
          </a:xfrm>
          <a:prstGeom prst="rect">
            <a:avLst/>
          </a:prstGeom>
          <a:noFill/>
          <a:ln/>
        </p:spPr>
        <p:txBody>
          <a:bodyPr wrap="square" lIns="0" tIns="0" rIns="0" bIns="0" rtlCol="0" anchor="t"/>
          <a:lstStyle/>
          <a:p>
            <a:pPr algn="r" indent="0" marL="0">
              <a:buNone/>
            </a:pPr>
            <a:r>
              <a:rPr lang="en-US" sz="2200" b="1" dirty="0">
                <a:solidFill>
                  <a:srgbClr val="94A3B8"/>
                </a:solidFill>
                <a:latin typeface="Calibri" pitchFamily="34" charset="0"/>
                <a:ea typeface="Calibri" pitchFamily="34" charset="-122"/>
                <a:cs typeface="Calibri" pitchFamily="34" charset="-120"/>
              </a:rPr>
              <a:t>%</a:t>
            </a:r>
            <a:endParaRPr lang="en-US" sz="2200" dirty="0"/>
          </a:p>
        </p:txBody>
      </p:sp>
      <p:sp>
        <p:nvSpPr>
          <p:cNvPr id="18" name="Text 16"/>
          <p:cNvSpPr/>
          <p:nvPr/>
        </p:nvSpPr>
        <p:spPr>
          <a:xfrm>
            <a:off x="8229600" y="3108960"/>
            <a:ext cx="3200400" cy="502920"/>
          </a:xfrm>
          <a:prstGeom prst="rect">
            <a:avLst/>
          </a:prstGeom>
          <a:noFill/>
          <a:ln/>
        </p:spPr>
        <p:txBody>
          <a:bodyPr wrap="square" lIns="0" tIns="0" rIns="0" bIns="0" rtlCol="0" anchor="t"/>
          <a:lstStyle/>
          <a:p>
            <a:pPr algn="ctr" indent="0" marL="0">
              <a:buNone/>
            </a:pPr>
            <a:r>
              <a:rPr lang="en-US" sz="1200" dirty="0">
                <a:solidFill>
                  <a:srgbClr val="F1F5F9"/>
                </a:solidFill>
                <a:latin typeface="Calibri" pitchFamily="34" charset="0"/>
                <a:ea typeface="Calibri" pitchFamily="34" charset="-122"/>
                <a:cs typeface="Calibri" pitchFamily="34" charset="-120"/>
              </a:rPr>
              <a:t>acierto separando los dos equipos</a:t>
            </a:r>
            <a:endParaRPr lang="en-US" sz="1200" dirty="0"/>
          </a:p>
        </p:txBody>
      </p:sp>
      <p:sp>
        <p:nvSpPr>
          <p:cNvPr id="19" name="Text 17"/>
          <p:cNvSpPr/>
          <p:nvPr/>
        </p:nvSpPr>
        <p:spPr>
          <a:xfrm>
            <a:off x="548640" y="3931920"/>
            <a:ext cx="5486400" cy="274320"/>
          </a:xfrm>
          <a:prstGeom prst="rect">
            <a:avLst/>
          </a:prstGeom>
          <a:noFill/>
          <a:ln/>
        </p:spPr>
        <p:txBody>
          <a:bodyPr wrap="square" lIns="0" tIns="0" rIns="0" bIns="0" rtlCol="0" anchor="ctr"/>
          <a:lstStyle/>
          <a:p>
            <a:pPr indent="0" marL="0">
              <a:buNone/>
            </a:pPr>
            <a:r>
              <a:rPr lang="en-US" sz="1100" b="1" spc="400" kern="0" dirty="0">
                <a:solidFill>
                  <a:srgbClr val="00D4FF"/>
                </a:solidFill>
                <a:latin typeface="Calibri" pitchFamily="34" charset="0"/>
                <a:ea typeface="Calibri" pitchFamily="34" charset="-122"/>
                <a:cs typeface="Calibri" pitchFamily="34" charset="-120"/>
              </a:rPr>
              <a:t>RENDIMIENTO</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4251960"/>
          <a:ext cx="5943600" cy="914400"/>
        </p:xfrm>
        <a:graphic>
          <a:graphicData uri="http://schemas.openxmlformats.org/drawingml/2006/table">
            <a:tbl>
              <a:tblPr/>
              <a:tblGrid>
                <a:gridCol w="2194560"/>
                <a:gridCol w="1280160"/>
                <a:gridCol w="2468880"/>
              </a:tblGrid>
              <a:tr h="411480">
                <a:tc>
                  <a:txBody>
                    <a:bodyPr/>
                    <a:lstStyle/>
                    <a:p>
                      <a:pPr algn="l" indent="0" marL="0">
                        <a:buNone/>
                      </a:pPr>
                      <a:r>
                        <a:rPr lang="en-US" sz="1200" b="1" dirty="0">
                          <a:solidFill>
                            <a:srgbClr val="F1F5F9"/>
                          </a:solidFill>
                          <a:latin typeface="Calibri" pitchFamily="34" charset="0"/>
                          <a:ea typeface="Calibri" pitchFamily="34" charset="-122"/>
                          <a:cs typeface="Calibri" pitchFamily="34" charset="-120"/>
                        </a:rPr>
                        <a:t>Configuración</a:t>
                      </a:r>
                      <a:endParaRPr lang="en-US" sz="12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243A5E"/>
                    </a:solidFill>
                  </a:tcPr>
                </a:tc>
                <a:tc>
                  <a:txBody>
                    <a:bodyPr/>
                    <a:lstStyle/>
                    <a:p>
                      <a:pPr algn="ctr" indent="0" marL="0">
                        <a:buNone/>
                      </a:pPr>
                      <a:r>
                        <a:rPr lang="en-US" sz="1200" b="1" dirty="0">
                          <a:solidFill>
                            <a:srgbClr val="F1F5F9"/>
                          </a:solidFill>
                          <a:latin typeface="Calibri" pitchFamily="34" charset="0"/>
                          <a:ea typeface="Calibri" pitchFamily="34" charset="-122"/>
                          <a:cs typeface="Calibri" pitchFamily="34" charset="-120"/>
                        </a:rPr>
                        <a:t>FPS</a:t>
                      </a:r>
                      <a:endParaRPr lang="en-US" sz="12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243A5E"/>
                    </a:solidFill>
                  </a:tcPr>
                </a:tc>
                <a:tc>
                  <a:txBody>
                    <a:bodyPr/>
                    <a:lstStyle/>
                    <a:p>
                      <a:pPr algn="ctr" indent="0" marL="0">
                        <a:buNone/>
                      </a:pPr>
                      <a:r>
                        <a:rPr lang="en-US" sz="1200" b="1" dirty="0">
                          <a:solidFill>
                            <a:srgbClr val="F1F5F9"/>
                          </a:solidFill>
                          <a:latin typeface="Calibri" pitchFamily="34" charset="0"/>
                          <a:ea typeface="Calibri" pitchFamily="34" charset="-122"/>
                          <a:cs typeface="Calibri" pitchFamily="34" charset="-120"/>
                        </a:rPr>
                        <a:t>Tiempo total</a:t>
                      </a:r>
                      <a:endParaRPr lang="en-US" sz="12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243A5E"/>
                    </a:solidFill>
                  </a:tcPr>
                </a:tc>
              </a:tr>
              <a:tr h="411480">
                <a:tc>
                  <a:txBody>
                    <a:bodyPr/>
                    <a:lstStyle/>
                    <a:p>
                      <a:pPr algn="l" indent="0" marL="0">
                        <a:buNone/>
                      </a:pPr>
                      <a:r>
                        <a:rPr lang="en-US" sz="1200" b="1" dirty="0">
                          <a:solidFill>
                            <a:srgbClr val="00FF87"/>
                          </a:solidFill>
                          <a:latin typeface="Calibri" pitchFamily="34" charset="0"/>
                          <a:ea typeface="Calibri" pitchFamily="34" charset="-122"/>
                          <a:cs typeface="Calibri" pitchFamily="34" charset="-120"/>
                        </a:rPr>
                        <a:t>GPU · RTX 3060</a:t>
                      </a:r>
                      <a:endParaRPr lang="en-US" sz="12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B2A41"/>
                    </a:solidFill>
                  </a:tcPr>
                </a:tc>
                <a:tc>
                  <a:txBody>
                    <a:bodyPr/>
                    <a:lstStyle/>
                    <a:p>
                      <a:pPr algn="ctr" indent="0" marL="0">
                        <a:buNone/>
                      </a:pPr>
                      <a:r>
                        <a:rPr lang="en-US" sz="1200" dirty="0">
                          <a:solidFill>
                            <a:srgbClr val="F1F5F9"/>
                          </a:solidFill>
                          <a:latin typeface="Calibri" pitchFamily="34" charset="0"/>
                          <a:ea typeface="Calibri" pitchFamily="34" charset="-122"/>
                          <a:cs typeface="Calibri" pitchFamily="34" charset="-120"/>
                        </a:rPr>
                        <a:t>~47</a:t>
                      </a:r>
                      <a:endParaRPr lang="en-US" sz="12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B2A41"/>
                    </a:solidFill>
                  </a:tcPr>
                </a:tc>
                <a:tc>
                  <a:txBody>
                    <a:bodyPr/>
                    <a:lstStyle/>
                    <a:p>
                      <a:pPr algn="ctr" indent="0" marL="0">
                        <a:buNone/>
                      </a:pPr>
                      <a:r>
                        <a:rPr lang="en-US" sz="1200" dirty="0">
                          <a:solidFill>
                            <a:srgbClr val="F1F5F9"/>
                          </a:solidFill>
                          <a:latin typeface="Calibri" pitchFamily="34" charset="0"/>
                          <a:ea typeface="Calibri" pitchFamily="34" charset="-122"/>
                          <a:cs typeface="Calibri" pitchFamily="34" charset="-120"/>
                        </a:rPr>
                        <a:t>~6 min para 5 min de vídeo</a:t>
                      </a:r>
                      <a:endParaRPr lang="en-US" sz="12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B2A41"/>
                    </a:solidFill>
                  </a:tcPr>
                </a:tc>
              </a:tr>
              <a:tr h="411480">
                <a:tc>
                  <a:txBody>
                    <a:bodyPr/>
                    <a:lstStyle/>
                    <a:p>
                      <a:pPr algn="l" indent="0" marL="0">
                        <a:buNone/>
                      </a:pPr>
                      <a:r>
                        <a:rPr lang="en-US" sz="1200" dirty="0">
                          <a:solidFill>
                            <a:srgbClr val="94A3B8"/>
                          </a:solidFill>
                          <a:latin typeface="Calibri" pitchFamily="34" charset="0"/>
                          <a:ea typeface="Calibri" pitchFamily="34" charset="-122"/>
                          <a:cs typeface="Calibri" pitchFamily="34" charset="-120"/>
                        </a:rPr>
                        <a:t>CPU sólo</a:t>
                      </a:r>
                      <a:endParaRPr lang="en-US" sz="12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B2A41"/>
                    </a:solidFill>
                  </a:tcPr>
                </a:tc>
                <a:tc>
                  <a:txBody>
                    <a:bodyPr/>
                    <a:lstStyle/>
                    <a:p>
                      <a:pPr algn="ctr" indent="0" marL="0">
                        <a:buNone/>
                      </a:pPr>
                      <a:r>
                        <a:rPr lang="en-US" sz="1200" dirty="0">
                          <a:solidFill>
                            <a:srgbClr val="94A3B8"/>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B2A41"/>
                    </a:solidFill>
                  </a:tcPr>
                </a:tc>
                <a:tc>
                  <a:txBody>
                    <a:bodyPr/>
                    <a:lstStyle/>
                    <a:p>
                      <a:pPr algn="ctr" indent="0" marL="0">
                        <a:buNone/>
                      </a:pPr>
                      <a:r>
                        <a:rPr lang="en-US" sz="1200" dirty="0">
                          <a:solidFill>
                            <a:srgbClr val="94A3B8"/>
                          </a:solidFill>
                          <a:latin typeface="Calibri" pitchFamily="34" charset="0"/>
                          <a:ea typeface="Calibri" pitchFamily="34" charset="-122"/>
                          <a:cs typeface="Calibri" pitchFamily="34" charset="-120"/>
                        </a:rPr>
                        <a:t>~30 min para 5 min de vídeo</a:t>
                      </a:r>
                      <a:endParaRPr lang="en-US" sz="1200" dirty="0">
                        <a:latin typeface="Calibri" charset="0"/>
                        <a:ea typeface="Calibri" charset="0"/>
                        <a:cs typeface="Calibr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B2A41"/>
                    </a:solidFill>
                  </a:tcPr>
                </a:tc>
              </a:tr>
            </a:tbl>
          </a:graphicData>
        </a:graphic>
      </p:graphicFrame>
      <p:sp>
        <p:nvSpPr>
          <p:cNvPr id="21" name="Shape 18"/>
          <p:cNvSpPr/>
          <p:nvPr/>
        </p:nvSpPr>
        <p:spPr>
          <a:xfrm>
            <a:off x="6766560" y="3931920"/>
            <a:ext cx="4846320" cy="2194560"/>
          </a:xfrm>
          <a:prstGeom prst="rect">
            <a:avLst/>
          </a:prstGeom>
          <a:solidFill>
            <a:srgbClr val="1B2A41"/>
          </a:solidFill>
          <a:ln/>
        </p:spPr>
      </p:sp>
      <p:pic>
        <p:nvPicPr>
          <p:cNvPr id="22" name="Image 0" descr="preencoded.png">    </p:cNvPr>
          <p:cNvPicPr>
            <a:picLocks noChangeAspect="1"/>
          </p:cNvPicPr>
          <p:nvPr/>
        </p:nvPicPr>
        <p:blipFill>
          <a:blip r:embed="rId1"/>
          <a:stretch>
            <a:fillRect/>
          </a:stretch>
        </p:blipFill>
        <p:spPr>
          <a:xfrm>
            <a:off x="6903720" y="4023360"/>
            <a:ext cx="320040" cy="320040"/>
          </a:xfrm>
          <a:prstGeom prst="rect">
            <a:avLst/>
          </a:prstGeom>
        </p:spPr>
      </p:pic>
      <p:sp>
        <p:nvSpPr>
          <p:cNvPr id="23" name="Text 19"/>
          <p:cNvSpPr/>
          <p:nvPr/>
        </p:nvSpPr>
        <p:spPr>
          <a:xfrm>
            <a:off x="7269480" y="4023360"/>
            <a:ext cx="4297680" cy="274320"/>
          </a:xfrm>
          <a:prstGeom prst="rect">
            <a:avLst/>
          </a:prstGeom>
          <a:noFill/>
          <a:ln/>
        </p:spPr>
        <p:txBody>
          <a:bodyPr wrap="square" lIns="0" tIns="0" rIns="0" bIns="0" rtlCol="0" anchor="ctr"/>
          <a:lstStyle/>
          <a:p>
            <a:pPr indent="0" marL="0">
              <a:buNone/>
            </a:pPr>
            <a:r>
              <a:rPr lang="en-US" sz="1100" b="1" spc="300" kern="0" dirty="0">
                <a:solidFill>
                  <a:srgbClr val="00FF87"/>
                </a:solidFill>
                <a:latin typeface="Calibri" pitchFamily="34" charset="0"/>
                <a:ea typeface="Calibri" pitchFamily="34" charset="-122"/>
                <a:cs typeface="Calibri" pitchFamily="34" charset="-120"/>
              </a:rPr>
              <a:t>PUNTO FUERTE  ·  HEATMAPS</a:t>
            </a:r>
            <a:endParaRPr lang="en-US" sz="1100" dirty="0"/>
          </a:p>
        </p:txBody>
      </p:sp>
      <p:sp>
        <p:nvSpPr>
          <p:cNvPr id="24" name="Text 20"/>
          <p:cNvSpPr/>
          <p:nvPr/>
        </p:nvSpPr>
        <p:spPr>
          <a:xfrm>
            <a:off x="6903720" y="4370832"/>
            <a:ext cx="4572000" cy="777240"/>
          </a:xfrm>
          <a:prstGeom prst="rect">
            <a:avLst/>
          </a:prstGeom>
          <a:noFill/>
          <a:ln/>
        </p:spPr>
        <p:txBody>
          <a:bodyPr wrap="square" lIns="0" tIns="0" rIns="0" bIns="0" rtlCol="0" anchor="t"/>
          <a:lstStyle/>
          <a:p>
            <a:pPr indent="0" marL="0">
              <a:buNone/>
            </a:pPr>
            <a:r>
              <a:rPr lang="en-US" sz="1100" dirty="0">
                <a:solidFill>
                  <a:srgbClr val="F1F5F9"/>
                </a:solidFill>
                <a:latin typeface="Calibri" pitchFamily="34" charset="0"/>
                <a:ea typeface="Calibri" pitchFamily="34" charset="-122"/>
                <a:cs typeface="Calibri" pitchFamily="34" charset="-120"/>
              </a:rPr>
              <a:t>Visualización muy clara de dónde ha dominado cada equipo y cómo se ha distribuido el juego. El 3D añade perspectiva sobre la intensidad.</a:t>
            </a:r>
            <a:endParaRPr lang="en-US" sz="1100" dirty="0"/>
          </a:p>
        </p:txBody>
      </p:sp>
      <p:pic>
        <p:nvPicPr>
          <p:cNvPr id="25" name="Image 1" descr="preencoded.png">    </p:cNvPr>
          <p:cNvPicPr>
            <a:picLocks noChangeAspect="1"/>
          </p:cNvPicPr>
          <p:nvPr/>
        </p:nvPicPr>
        <p:blipFill>
          <a:blip r:embed="rId2"/>
          <a:stretch>
            <a:fillRect/>
          </a:stretch>
        </p:blipFill>
        <p:spPr>
          <a:xfrm>
            <a:off x="6903720" y="5212080"/>
            <a:ext cx="320040" cy="320040"/>
          </a:xfrm>
          <a:prstGeom prst="rect">
            <a:avLst/>
          </a:prstGeom>
        </p:spPr>
      </p:pic>
      <p:sp>
        <p:nvSpPr>
          <p:cNvPr id="26" name="Text 21"/>
          <p:cNvSpPr/>
          <p:nvPr/>
        </p:nvSpPr>
        <p:spPr>
          <a:xfrm>
            <a:off x="7269480" y="5212080"/>
            <a:ext cx="4297680" cy="274320"/>
          </a:xfrm>
          <a:prstGeom prst="rect">
            <a:avLst/>
          </a:prstGeom>
          <a:noFill/>
          <a:ln/>
        </p:spPr>
        <p:txBody>
          <a:bodyPr wrap="square" lIns="0" tIns="0" rIns="0" bIns="0" rtlCol="0" anchor="ctr"/>
          <a:lstStyle/>
          <a:p>
            <a:pPr indent="0" marL="0">
              <a:buNone/>
            </a:pPr>
            <a:r>
              <a:rPr lang="en-US" sz="1100" b="1" spc="300" kern="0" dirty="0">
                <a:solidFill>
                  <a:srgbClr val="FFB020"/>
                </a:solidFill>
                <a:latin typeface="Calibri" pitchFamily="34" charset="0"/>
                <a:ea typeface="Calibri" pitchFamily="34" charset="-122"/>
                <a:cs typeface="Calibri" pitchFamily="34" charset="-120"/>
              </a:rPr>
              <a:t>PUNTO FLOJO  ·  BALÓN ~70%</a:t>
            </a:r>
            <a:endParaRPr lang="en-US" sz="1100" dirty="0"/>
          </a:p>
        </p:txBody>
      </p:sp>
      <p:sp>
        <p:nvSpPr>
          <p:cNvPr id="27" name="Text 22"/>
          <p:cNvSpPr/>
          <p:nvPr/>
        </p:nvSpPr>
        <p:spPr>
          <a:xfrm>
            <a:off x="6903720" y="5532120"/>
            <a:ext cx="4572000" cy="594360"/>
          </a:xfrm>
          <a:prstGeom prst="rect">
            <a:avLst/>
          </a:prstGeom>
          <a:noFill/>
          <a:ln/>
        </p:spPr>
        <p:txBody>
          <a:bodyPr wrap="square" lIns="0" tIns="0" rIns="0" bIns="0" rtlCol="0" anchor="t"/>
          <a:lstStyle/>
          <a:p>
            <a:pPr indent="0" marL="0">
              <a:buNone/>
            </a:pPr>
            <a:r>
              <a:rPr lang="en-US" sz="1100" dirty="0">
                <a:solidFill>
                  <a:srgbClr val="F1F5F9"/>
                </a:solidFill>
                <a:latin typeface="Calibri" pitchFamily="34" charset="0"/>
                <a:ea typeface="Calibri" pitchFamily="34" charset="-122"/>
                <a:cs typeface="Calibri" pitchFamily="34" charset="-120"/>
              </a:rPr>
              <a:t>Pequeño y rápido: falla en tiros raseados y planos abiertos. YOLOv8 base (COCO) no está optimizado para balones de fútbol.</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713232" y="292608"/>
            <a:ext cx="4572000" cy="274320"/>
          </a:xfrm>
          <a:prstGeom prst="rect">
            <a:avLst/>
          </a:prstGeom>
          <a:noFill/>
          <a:ln/>
        </p:spPr>
        <p:txBody>
          <a:bodyPr wrap="square" lIns="0" tIns="0" rIns="0" bIns="0" rtlCol="0" anchor="ctr"/>
          <a:lstStyle/>
          <a:p>
            <a:pPr indent="0" marL="0">
              <a:buNone/>
            </a:pPr>
            <a:r>
              <a:rPr lang="en-US" sz="1000" b="1" spc="400" kern="0" dirty="0">
                <a:solidFill>
                  <a:srgbClr val="00D4FF"/>
                </a:solidFill>
                <a:latin typeface="Calibri" pitchFamily="34" charset="0"/>
                <a:ea typeface="Calibri" pitchFamily="34" charset="-122"/>
                <a:cs typeface="Calibri" pitchFamily="34" charset="-120"/>
              </a:rPr>
              <a:t>VISIÓN ARTIFICIAL · UPV</a:t>
            </a:r>
            <a:endParaRPr lang="en-US" sz="1000" dirty="0"/>
          </a:p>
        </p:txBody>
      </p:sp>
      <p:sp>
        <p:nvSpPr>
          <p:cNvPr id="3" name="Text 1"/>
          <p:cNvSpPr/>
          <p:nvPr/>
        </p:nvSpPr>
        <p:spPr>
          <a:xfrm>
            <a:off x="548640" y="594360"/>
            <a:ext cx="10058400" cy="731520"/>
          </a:xfrm>
          <a:prstGeom prst="rect">
            <a:avLst/>
          </a:prstGeom>
          <a:noFill/>
          <a:ln/>
        </p:spPr>
        <p:txBody>
          <a:bodyPr wrap="square" lIns="0" tIns="0" rIns="0" bIns="0" rtlCol="0" anchor="ctr"/>
          <a:lstStyle/>
          <a:p>
            <a:pPr indent="0" marL="0">
              <a:buNone/>
            </a:pPr>
            <a:r>
              <a:rPr lang="en-US" sz="3200" b="1" dirty="0">
                <a:solidFill>
                  <a:srgbClr val="F1F5F9"/>
                </a:solidFill>
                <a:latin typeface="Calibri" pitchFamily="34" charset="0"/>
                <a:ea typeface="Calibri" pitchFamily="34" charset="-122"/>
                <a:cs typeface="Calibri" pitchFamily="34" charset="-120"/>
              </a:rPr>
              <a:t>Lo que se rompió por el camino</a:t>
            </a:r>
            <a:endParaRPr lang="en-US" sz="3200" dirty="0"/>
          </a:p>
        </p:txBody>
      </p:sp>
      <p:sp>
        <p:nvSpPr>
          <p:cNvPr id="4" name="Text 2"/>
          <p:cNvSpPr/>
          <p:nvPr/>
        </p:nvSpPr>
        <p:spPr>
          <a:xfrm>
            <a:off x="548640" y="1280160"/>
            <a:ext cx="10058400" cy="365760"/>
          </a:xfrm>
          <a:prstGeom prst="rect">
            <a:avLst/>
          </a:prstGeom>
          <a:noFill/>
          <a:ln/>
        </p:spPr>
        <p:txBody>
          <a:bodyPr wrap="square" lIns="0" tIns="0" rIns="0" bIns="0" rtlCol="0" anchor="ctr"/>
          <a:lstStyle/>
          <a:p>
            <a:pPr indent="0" marL="0">
              <a:buNone/>
            </a:pPr>
            <a:r>
              <a:rPr lang="en-US" sz="1400" i="1" dirty="0">
                <a:solidFill>
                  <a:srgbClr val="94A3B8"/>
                </a:solidFill>
                <a:latin typeface="Calibri" pitchFamily="34" charset="0"/>
                <a:ea typeface="Calibri" pitchFamily="34" charset="-122"/>
                <a:cs typeface="Calibri" pitchFamily="34" charset="-120"/>
              </a:rPr>
              <a:t>4 problemas reales y cómo los atajamos</a:t>
            </a:r>
            <a:endParaRPr lang="en-US" sz="1400" dirty="0"/>
          </a:p>
        </p:txBody>
      </p:sp>
      <p:sp>
        <p:nvSpPr>
          <p:cNvPr id="5" name="Text 3"/>
          <p:cNvSpPr/>
          <p:nvPr/>
        </p:nvSpPr>
        <p:spPr>
          <a:xfrm>
            <a:off x="11155680" y="6446520"/>
            <a:ext cx="640080" cy="274320"/>
          </a:xfrm>
          <a:prstGeom prst="rect">
            <a:avLst/>
          </a:prstGeom>
          <a:noFill/>
          <a:ln/>
        </p:spPr>
        <p:txBody>
          <a:bodyPr wrap="square" lIns="0" tIns="0" rIns="0" bIns="0" rtlCol="0" anchor="ctr"/>
          <a:lstStyle/>
          <a:p>
            <a:pPr algn="r" indent="0" marL="0">
              <a:buNone/>
            </a:pPr>
            <a:r>
              <a:rPr lang="en-US" sz="1000" dirty="0">
                <a:solidFill>
                  <a:srgbClr val="94A3B8"/>
                </a:solidFill>
                <a:latin typeface="Consolas" pitchFamily="34" charset="0"/>
                <a:ea typeface="Consolas" pitchFamily="34" charset="-122"/>
                <a:cs typeface="Consolas" pitchFamily="34" charset="-120"/>
              </a:rPr>
              <a:t>7 / 9</a:t>
            </a:r>
            <a:endParaRPr lang="en-US" sz="1000" dirty="0"/>
          </a:p>
        </p:txBody>
      </p:sp>
      <p:sp>
        <p:nvSpPr>
          <p:cNvPr id="6" name="Shape 4"/>
          <p:cNvSpPr/>
          <p:nvPr/>
        </p:nvSpPr>
        <p:spPr>
          <a:xfrm>
            <a:off x="548640" y="320040"/>
            <a:ext cx="45720" cy="164592"/>
          </a:xfrm>
          <a:prstGeom prst="rect">
            <a:avLst/>
          </a:prstGeom>
          <a:solidFill>
            <a:srgbClr val="00D4FF"/>
          </a:solidFill>
          <a:ln/>
        </p:spPr>
      </p:sp>
      <p:sp>
        <p:nvSpPr>
          <p:cNvPr id="7" name="Shape 5"/>
          <p:cNvSpPr/>
          <p:nvPr/>
        </p:nvSpPr>
        <p:spPr>
          <a:xfrm>
            <a:off x="548640" y="1874520"/>
            <a:ext cx="5532120" cy="2103120"/>
          </a:xfrm>
          <a:prstGeom prst="rect">
            <a:avLst/>
          </a:prstGeom>
          <a:solidFill>
            <a:srgbClr val="1B2A41"/>
          </a:solidFill>
          <a:ln/>
        </p:spPr>
      </p:sp>
      <p:pic>
        <p:nvPicPr>
          <p:cNvPr id="8" name="Image 0" descr="preencoded.png">    </p:cNvPr>
          <p:cNvPicPr>
            <a:picLocks noChangeAspect="1"/>
          </p:cNvPicPr>
          <p:nvPr/>
        </p:nvPicPr>
        <p:blipFill>
          <a:blip r:embed="rId1"/>
          <a:stretch>
            <a:fillRect/>
          </a:stretch>
        </p:blipFill>
        <p:spPr>
          <a:xfrm>
            <a:off x="777240" y="2075688"/>
            <a:ext cx="320040" cy="320040"/>
          </a:xfrm>
          <a:prstGeom prst="rect">
            <a:avLst/>
          </a:prstGeom>
        </p:spPr>
      </p:pic>
      <p:sp>
        <p:nvSpPr>
          <p:cNvPr id="9" name="Text 6"/>
          <p:cNvSpPr/>
          <p:nvPr/>
        </p:nvSpPr>
        <p:spPr>
          <a:xfrm>
            <a:off x="1143000" y="2057400"/>
            <a:ext cx="4709160" cy="274320"/>
          </a:xfrm>
          <a:prstGeom prst="rect">
            <a:avLst/>
          </a:prstGeom>
          <a:noFill/>
          <a:ln/>
        </p:spPr>
        <p:txBody>
          <a:bodyPr wrap="square" lIns="0" tIns="0" rIns="0" bIns="0" rtlCol="0" anchor="ctr"/>
          <a:lstStyle/>
          <a:p>
            <a:pPr indent="0" marL="0">
              <a:buNone/>
            </a:pPr>
            <a:r>
              <a:rPr lang="en-US" sz="1000" b="1" spc="300" kern="0" dirty="0">
                <a:solidFill>
                  <a:srgbClr val="FFB020"/>
                </a:solidFill>
                <a:latin typeface="Calibri" pitchFamily="34" charset="0"/>
                <a:ea typeface="Calibri" pitchFamily="34" charset="-122"/>
                <a:cs typeface="Calibri" pitchFamily="34" charset="-120"/>
              </a:rPr>
              <a:t>PROBLEMA</a:t>
            </a:r>
            <a:endParaRPr lang="en-US" sz="1000" dirty="0"/>
          </a:p>
        </p:txBody>
      </p:sp>
      <p:sp>
        <p:nvSpPr>
          <p:cNvPr id="10" name="Text 7"/>
          <p:cNvSpPr/>
          <p:nvPr/>
        </p:nvSpPr>
        <p:spPr>
          <a:xfrm>
            <a:off x="777240" y="2377440"/>
            <a:ext cx="5074920" cy="502920"/>
          </a:xfrm>
          <a:prstGeom prst="rect">
            <a:avLst/>
          </a:prstGeom>
          <a:noFill/>
          <a:ln/>
        </p:spPr>
        <p:txBody>
          <a:bodyPr wrap="square" lIns="0" tIns="0" rIns="0" bIns="0" rtlCol="0" anchor="t"/>
          <a:lstStyle/>
          <a:p>
            <a:pPr indent="0" marL="0">
              <a:buNone/>
            </a:pPr>
            <a:r>
              <a:rPr lang="en-US" sz="1500" b="1" dirty="0">
                <a:solidFill>
                  <a:srgbClr val="F1F5F9"/>
                </a:solidFill>
                <a:latin typeface="Calibri" pitchFamily="34" charset="0"/>
                <a:ea typeface="Calibri" pitchFamily="34" charset="-122"/>
                <a:cs typeface="Calibri" pitchFamily="34" charset="-120"/>
              </a:rPr>
              <a:t>Tracker confundía IDs en cruces</a:t>
            </a:r>
            <a:endParaRPr lang="en-US" sz="1500" dirty="0"/>
          </a:p>
        </p:txBody>
      </p:sp>
      <p:sp>
        <p:nvSpPr>
          <p:cNvPr id="11" name="Shape 8"/>
          <p:cNvSpPr/>
          <p:nvPr/>
        </p:nvSpPr>
        <p:spPr>
          <a:xfrm>
            <a:off x="777240" y="2971800"/>
            <a:ext cx="5074920" cy="0"/>
          </a:xfrm>
          <a:prstGeom prst="line">
            <a:avLst/>
          </a:prstGeom>
          <a:noFill/>
          <a:ln w="12700">
            <a:solidFill>
              <a:srgbClr val="334155"/>
            </a:solidFill>
            <a:prstDash val="solid"/>
          </a:ln>
        </p:spPr>
      </p:sp>
      <p:pic>
        <p:nvPicPr>
          <p:cNvPr id="12" name="Image 1" descr="preencoded.png">    </p:cNvPr>
          <p:cNvPicPr>
            <a:picLocks noChangeAspect="1"/>
          </p:cNvPicPr>
          <p:nvPr/>
        </p:nvPicPr>
        <p:blipFill>
          <a:blip r:embed="rId2"/>
          <a:stretch>
            <a:fillRect/>
          </a:stretch>
        </p:blipFill>
        <p:spPr>
          <a:xfrm>
            <a:off x="777240" y="3108960"/>
            <a:ext cx="292608" cy="292608"/>
          </a:xfrm>
          <a:prstGeom prst="rect">
            <a:avLst/>
          </a:prstGeom>
        </p:spPr>
      </p:pic>
      <p:sp>
        <p:nvSpPr>
          <p:cNvPr id="13" name="Text 9"/>
          <p:cNvSpPr/>
          <p:nvPr/>
        </p:nvSpPr>
        <p:spPr>
          <a:xfrm>
            <a:off x="1143000" y="3090672"/>
            <a:ext cx="4709160" cy="274320"/>
          </a:xfrm>
          <a:prstGeom prst="rect">
            <a:avLst/>
          </a:prstGeom>
          <a:noFill/>
          <a:ln/>
        </p:spPr>
        <p:txBody>
          <a:bodyPr wrap="square" lIns="0" tIns="0" rIns="0" bIns="0" rtlCol="0" anchor="ctr"/>
          <a:lstStyle/>
          <a:p>
            <a:pPr indent="0" marL="0">
              <a:buNone/>
            </a:pPr>
            <a:r>
              <a:rPr lang="en-US" sz="1000" b="1" spc="300" kern="0" dirty="0">
                <a:solidFill>
                  <a:srgbClr val="00FF87"/>
                </a:solidFill>
                <a:latin typeface="Calibri" pitchFamily="34" charset="0"/>
                <a:ea typeface="Calibri" pitchFamily="34" charset="-122"/>
                <a:cs typeface="Calibri" pitchFamily="34" charset="-120"/>
              </a:rPr>
              <a:t>SOLUCIÓN</a:t>
            </a:r>
            <a:endParaRPr lang="en-US" sz="1000" dirty="0"/>
          </a:p>
        </p:txBody>
      </p:sp>
      <p:sp>
        <p:nvSpPr>
          <p:cNvPr id="14" name="Text 10"/>
          <p:cNvSpPr/>
          <p:nvPr/>
        </p:nvSpPr>
        <p:spPr>
          <a:xfrm>
            <a:off x="777240" y="3383280"/>
            <a:ext cx="5074920" cy="502920"/>
          </a:xfrm>
          <a:prstGeom prst="rect">
            <a:avLst/>
          </a:prstGeom>
          <a:noFill/>
          <a:ln/>
        </p:spPr>
        <p:txBody>
          <a:bodyPr wrap="square" lIns="0" tIns="0" rIns="0" bIns="0" rtlCol="0" anchor="t"/>
          <a:lstStyle/>
          <a:p>
            <a:pPr indent="0" marL="0">
              <a:buNone/>
            </a:pPr>
            <a:r>
              <a:rPr lang="en-US" sz="1200" dirty="0">
                <a:solidFill>
                  <a:srgbClr val="94A3B8"/>
                </a:solidFill>
                <a:latin typeface="Calibri" pitchFamily="34" charset="0"/>
                <a:ea typeface="Calibri" pitchFamily="34" charset="-122"/>
                <a:cs typeface="Calibri" pitchFamily="34" charset="-120"/>
              </a:rPr>
              <a:t>Ajustamos el umbral de asociación y el buffer de frames perdidos de ByteTrack.</a:t>
            </a:r>
            <a:endParaRPr lang="en-US" sz="1200" dirty="0"/>
          </a:p>
        </p:txBody>
      </p:sp>
      <p:sp>
        <p:nvSpPr>
          <p:cNvPr id="15" name="Shape 11"/>
          <p:cNvSpPr/>
          <p:nvPr/>
        </p:nvSpPr>
        <p:spPr>
          <a:xfrm>
            <a:off x="6263640" y="1874520"/>
            <a:ext cx="5532120" cy="2103120"/>
          </a:xfrm>
          <a:prstGeom prst="rect">
            <a:avLst/>
          </a:prstGeom>
          <a:solidFill>
            <a:srgbClr val="1B2A41"/>
          </a:solidFill>
          <a:ln/>
        </p:spPr>
      </p:sp>
      <p:pic>
        <p:nvPicPr>
          <p:cNvPr id="16" name="Image 2" descr="preencoded.png">    </p:cNvPr>
          <p:cNvPicPr>
            <a:picLocks noChangeAspect="1"/>
          </p:cNvPicPr>
          <p:nvPr/>
        </p:nvPicPr>
        <p:blipFill>
          <a:blip r:embed="rId3"/>
          <a:stretch>
            <a:fillRect/>
          </a:stretch>
        </p:blipFill>
        <p:spPr>
          <a:xfrm>
            <a:off x="6492240" y="2075688"/>
            <a:ext cx="320040" cy="320040"/>
          </a:xfrm>
          <a:prstGeom prst="rect">
            <a:avLst/>
          </a:prstGeom>
        </p:spPr>
      </p:pic>
      <p:sp>
        <p:nvSpPr>
          <p:cNvPr id="17" name="Text 12"/>
          <p:cNvSpPr/>
          <p:nvPr/>
        </p:nvSpPr>
        <p:spPr>
          <a:xfrm>
            <a:off x="6858000" y="2057400"/>
            <a:ext cx="4709160" cy="274320"/>
          </a:xfrm>
          <a:prstGeom prst="rect">
            <a:avLst/>
          </a:prstGeom>
          <a:noFill/>
          <a:ln/>
        </p:spPr>
        <p:txBody>
          <a:bodyPr wrap="square" lIns="0" tIns="0" rIns="0" bIns="0" rtlCol="0" anchor="ctr"/>
          <a:lstStyle/>
          <a:p>
            <a:pPr indent="0" marL="0">
              <a:buNone/>
            </a:pPr>
            <a:r>
              <a:rPr lang="en-US" sz="1000" b="1" spc="300" kern="0" dirty="0">
                <a:solidFill>
                  <a:srgbClr val="FFB020"/>
                </a:solidFill>
                <a:latin typeface="Calibri" pitchFamily="34" charset="0"/>
                <a:ea typeface="Calibri" pitchFamily="34" charset="-122"/>
                <a:cs typeface="Calibri" pitchFamily="34" charset="-120"/>
              </a:rPr>
              <a:t>PROBLEMA</a:t>
            </a:r>
            <a:endParaRPr lang="en-US" sz="1000" dirty="0"/>
          </a:p>
        </p:txBody>
      </p:sp>
      <p:sp>
        <p:nvSpPr>
          <p:cNvPr id="18" name="Text 13"/>
          <p:cNvSpPr/>
          <p:nvPr/>
        </p:nvSpPr>
        <p:spPr>
          <a:xfrm>
            <a:off x="6492240" y="2377440"/>
            <a:ext cx="5074920" cy="502920"/>
          </a:xfrm>
          <a:prstGeom prst="rect">
            <a:avLst/>
          </a:prstGeom>
          <a:noFill/>
          <a:ln/>
        </p:spPr>
        <p:txBody>
          <a:bodyPr wrap="square" lIns="0" tIns="0" rIns="0" bIns="0" rtlCol="0" anchor="t"/>
          <a:lstStyle/>
          <a:p>
            <a:pPr indent="0" marL="0">
              <a:buNone/>
            </a:pPr>
            <a:r>
              <a:rPr lang="en-US" sz="1500" b="1" dirty="0">
                <a:solidFill>
                  <a:srgbClr val="F1F5F9"/>
                </a:solidFill>
                <a:latin typeface="Calibri" pitchFamily="34" charset="0"/>
                <a:ea typeface="Calibri" pitchFamily="34" charset="-122"/>
                <a:cs typeface="Calibri" pitchFamily="34" charset="-120"/>
              </a:rPr>
              <a:t>Balón detectado mal o no detectado</a:t>
            </a:r>
            <a:endParaRPr lang="en-US" sz="1500" dirty="0"/>
          </a:p>
        </p:txBody>
      </p:sp>
      <p:sp>
        <p:nvSpPr>
          <p:cNvPr id="19" name="Shape 14"/>
          <p:cNvSpPr/>
          <p:nvPr/>
        </p:nvSpPr>
        <p:spPr>
          <a:xfrm>
            <a:off x="6492240" y="2971800"/>
            <a:ext cx="5074920" cy="0"/>
          </a:xfrm>
          <a:prstGeom prst="line">
            <a:avLst/>
          </a:prstGeom>
          <a:noFill/>
          <a:ln w="12700">
            <a:solidFill>
              <a:srgbClr val="334155"/>
            </a:solidFill>
            <a:prstDash val="solid"/>
          </a:ln>
        </p:spPr>
      </p:sp>
      <p:pic>
        <p:nvPicPr>
          <p:cNvPr id="20" name="Image 3" descr="preencoded.png">    </p:cNvPr>
          <p:cNvPicPr>
            <a:picLocks noChangeAspect="1"/>
          </p:cNvPicPr>
          <p:nvPr/>
        </p:nvPicPr>
        <p:blipFill>
          <a:blip r:embed="rId4"/>
          <a:stretch>
            <a:fillRect/>
          </a:stretch>
        </p:blipFill>
        <p:spPr>
          <a:xfrm>
            <a:off x="6492240" y="3108960"/>
            <a:ext cx="292608" cy="292608"/>
          </a:xfrm>
          <a:prstGeom prst="rect">
            <a:avLst/>
          </a:prstGeom>
        </p:spPr>
      </p:pic>
      <p:sp>
        <p:nvSpPr>
          <p:cNvPr id="21" name="Text 15"/>
          <p:cNvSpPr/>
          <p:nvPr/>
        </p:nvSpPr>
        <p:spPr>
          <a:xfrm>
            <a:off x="6858000" y="3090672"/>
            <a:ext cx="4709160" cy="274320"/>
          </a:xfrm>
          <a:prstGeom prst="rect">
            <a:avLst/>
          </a:prstGeom>
          <a:noFill/>
          <a:ln/>
        </p:spPr>
        <p:txBody>
          <a:bodyPr wrap="square" lIns="0" tIns="0" rIns="0" bIns="0" rtlCol="0" anchor="ctr"/>
          <a:lstStyle/>
          <a:p>
            <a:pPr indent="0" marL="0">
              <a:buNone/>
            </a:pPr>
            <a:r>
              <a:rPr lang="en-US" sz="1000" b="1" spc="300" kern="0" dirty="0">
                <a:solidFill>
                  <a:srgbClr val="00FF87"/>
                </a:solidFill>
                <a:latin typeface="Calibri" pitchFamily="34" charset="0"/>
                <a:ea typeface="Calibri" pitchFamily="34" charset="-122"/>
                <a:cs typeface="Calibri" pitchFamily="34" charset="-120"/>
              </a:rPr>
              <a:t>SOLUCIÓN</a:t>
            </a:r>
            <a:endParaRPr lang="en-US" sz="1000" dirty="0"/>
          </a:p>
        </p:txBody>
      </p:sp>
      <p:sp>
        <p:nvSpPr>
          <p:cNvPr id="22" name="Text 16"/>
          <p:cNvSpPr/>
          <p:nvPr/>
        </p:nvSpPr>
        <p:spPr>
          <a:xfrm>
            <a:off x="6492240" y="3383280"/>
            <a:ext cx="5074920" cy="502920"/>
          </a:xfrm>
          <a:prstGeom prst="rect">
            <a:avLst/>
          </a:prstGeom>
          <a:noFill/>
          <a:ln/>
        </p:spPr>
        <p:txBody>
          <a:bodyPr wrap="square" lIns="0" tIns="0" rIns="0" bIns="0" rtlCol="0" anchor="t"/>
          <a:lstStyle/>
          <a:p>
            <a:pPr indent="0" marL="0">
              <a:buNone/>
            </a:pPr>
            <a:r>
              <a:rPr lang="en-US" sz="1200" dirty="0">
                <a:solidFill>
                  <a:srgbClr val="94A3B8"/>
                </a:solidFill>
                <a:latin typeface="Calibri" pitchFamily="34" charset="0"/>
                <a:ea typeface="Calibri" pitchFamily="34" charset="-122"/>
                <a:cs typeface="Calibri" pitchFamily="34" charset="-120"/>
              </a:rPr>
              <a:t>Bajamos el umbral de confianza para la clase 'balón'. Aceptamos algunos falsos positivos.</a:t>
            </a:r>
            <a:endParaRPr lang="en-US" sz="1200" dirty="0"/>
          </a:p>
        </p:txBody>
      </p:sp>
      <p:sp>
        <p:nvSpPr>
          <p:cNvPr id="23" name="Shape 17"/>
          <p:cNvSpPr/>
          <p:nvPr/>
        </p:nvSpPr>
        <p:spPr>
          <a:xfrm>
            <a:off x="548640" y="4160520"/>
            <a:ext cx="5532120" cy="2103120"/>
          </a:xfrm>
          <a:prstGeom prst="rect">
            <a:avLst/>
          </a:prstGeom>
          <a:solidFill>
            <a:srgbClr val="1B2A41"/>
          </a:solidFill>
          <a:ln/>
        </p:spPr>
      </p:sp>
      <p:pic>
        <p:nvPicPr>
          <p:cNvPr id="24" name="Image 4" descr="preencoded.png">    </p:cNvPr>
          <p:cNvPicPr>
            <a:picLocks noChangeAspect="1"/>
          </p:cNvPicPr>
          <p:nvPr/>
        </p:nvPicPr>
        <p:blipFill>
          <a:blip r:embed="rId5"/>
          <a:stretch>
            <a:fillRect/>
          </a:stretch>
        </p:blipFill>
        <p:spPr>
          <a:xfrm>
            <a:off x="777240" y="4361688"/>
            <a:ext cx="320040" cy="320040"/>
          </a:xfrm>
          <a:prstGeom prst="rect">
            <a:avLst/>
          </a:prstGeom>
        </p:spPr>
      </p:pic>
      <p:sp>
        <p:nvSpPr>
          <p:cNvPr id="25" name="Text 18"/>
          <p:cNvSpPr/>
          <p:nvPr/>
        </p:nvSpPr>
        <p:spPr>
          <a:xfrm>
            <a:off x="1143000" y="4343400"/>
            <a:ext cx="4709160" cy="274320"/>
          </a:xfrm>
          <a:prstGeom prst="rect">
            <a:avLst/>
          </a:prstGeom>
          <a:noFill/>
          <a:ln/>
        </p:spPr>
        <p:txBody>
          <a:bodyPr wrap="square" lIns="0" tIns="0" rIns="0" bIns="0" rtlCol="0" anchor="ctr"/>
          <a:lstStyle/>
          <a:p>
            <a:pPr indent="0" marL="0">
              <a:buNone/>
            </a:pPr>
            <a:r>
              <a:rPr lang="en-US" sz="1000" b="1" spc="300" kern="0" dirty="0">
                <a:solidFill>
                  <a:srgbClr val="FFB020"/>
                </a:solidFill>
                <a:latin typeface="Calibri" pitchFamily="34" charset="0"/>
                <a:ea typeface="Calibri" pitchFamily="34" charset="-122"/>
                <a:cs typeface="Calibri" pitchFamily="34" charset="-120"/>
              </a:rPr>
              <a:t>PROBLEMA</a:t>
            </a:r>
            <a:endParaRPr lang="en-US" sz="1000" dirty="0"/>
          </a:p>
        </p:txBody>
      </p:sp>
      <p:sp>
        <p:nvSpPr>
          <p:cNvPr id="26" name="Text 19"/>
          <p:cNvSpPr/>
          <p:nvPr/>
        </p:nvSpPr>
        <p:spPr>
          <a:xfrm>
            <a:off x="777240" y="4663440"/>
            <a:ext cx="5074920" cy="502920"/>
          </a:xfrm>
          <a:prstGeom prst="rect">
            <a:avLst/>
          </a:prstGeom>
          <a:noFill/>
          <a:ln/>
        </p:spPr>
        <p:txBody>
          <a:bodyPr wrap="square" lIns="0" tIns="0" rIns="0" bIns="0" rtlCol="0" anchor="t"/>
          <a:lstStyle/>
          <a:p>
            <a:pPr indent="0" marL="0">
              <a:buNone/>
            </a:pPr>
            <a:r>
              <a:rPr lang="en-US" sz="1500" b="1" dirty="0">
                <a:solidFill>
                  <a:srgbClr val="F1F5F9"/>
                </a:solidFill>
                <a:latin typeface="Calibri" pitchFamily="34" charset="0"/>
                <a:ea typeface="Calibri" pitchFamily="34" charset="-122"/>
                <a:cs typeface="Calibri" pitchFamily="34" charset="-120"/>
              </a:rPr>
              <a:t>Espectadores detectados como jugadores</a:t>
            </a:r>
            <a:endParaRPr lang="en-US" sz="1500" dirty="0"/>
          </a:p>
        </p:txBody>
      </p:sp>
      <p:sp>
        <p:nvSpPr>
          <p:cNvPr id="27" name="Shape 20"/>
          <p:cNvSpPr/>
          <p:nvPr/>
        </p:nvSpPr>
        <p:spPr>
          <a:xfrm>
            <a:off x="777240" y="5257800"/>
            <a:ext cx="5074920" cy="0"/>
          </a:xfrm>
          <a:prstGeom prst="line">
            <a:avLst/>
          </a:prstGeom>
          <a:noFill/>
          <a:ln w="12700">
            <a:solidFill>
              <a:srgbClr val="334155"/>
            </a:solidFill>
            <a:prstDash val="solid"/>
          </a:ln>
        </p:spPr>
      </p:sp>
      <p:pic>
        <p:nvPicPr>
          <p:cNvPr id="28" name="Image 5" descr="preencoded.png">    </p:cNvPr>
          <p:cNvPicPr>
            <a:picLocks noChangeAspect="1"/>
          </p:cNvPicPr>
          <p:nvPr/>
        </p:nvPicPr>
        <p:blipFill>
          <a:blip r:embed="rId6"/>
          <a:stretch>
            <a:fillRect/>
          </a:stretch>
        </p:blipFill>
        <p:spPr>
          <a:xfrm>
            <a:off x="777240" y="5394960"/>
            <a:ext cx="292608" cy="292608"/>
          </a:xfrm>
          <a:prstGeom prst="rect">
            <a:avLst/>
          </a:prstGeom>
        </p:spPr>
      </p:pic>
      <p:sp>
        <p:nvSpPr>
          <p:cNvPr id="29" name="Text 21"/>
          <p:cNvSpPr/>
          <p:nvPr/>
        </p:nvSpPr>
        <p:spPr>
          <a:xfrm>
            <a:off x="1143000" y="5376672"/>
            <a:ext cx="4709160" cy="274320"/>
          </a:xfrm>
          <a:prstGeom prst="rect">
            <a:avLst/>
          </a:prstGeom>
          <a:noFill/>
          <a:ln/>
        </p:spPr>
        <p:txBody>
          <a:bodyPr wrap="square" lIns="0" tIns="0" rIns="0" bIns="0" rtlCol="0" anchor="ctr"/>
          <a:lstStyle/>
          <a:p>
            <a:pPr indent="0" marL="0">
              <a:buNone/>
            </a:pPr>
            <a:r>
              <a:rPr lang="en-US" sz="1000" b="1" spc="300" kern="0" dirty="0">
                <a:solidFill>
                  <a:srgbClr val="00FF87"/>
                </a:solidFill>
                <a:latin typeface="Calibri" pitchFamily="34" charset="0"/>
                <a:ea typeface="Calibri" pitchFamily="34" charset="-122"/>
                <a:cs typeface="Calibri" pitchFamily="34" charset="-120"/>
              </a:rPr>
              <a:t>SOLUCIÓN</a:t>
            </a:r>
            <a:endParaRPr lang="en-US" sz="1000" dirty="0"/>
          </a:p>
        </p:txBody>
      </p:sp>
      <p:sp>
        <p:nvSpPr>
          <p:cNvPr id="30" name="Text 22"/>
          <p:cNvSpPr/>
          <p:nvPr/>
        </p:nvSpPr>
        <p:spPr>
          <a:xfrm>
            <a:off x="777240" y="5669280"/>
            <a:ext cx="5074920" cy="502920"/>
          </a:xfrm>
          <a:prstGeom prst="rect">
            <a:avLst/>
          </a:prstGeom>
          <a:noFill/>
          <a:ln/>
        </p:spPr>
        <p:txBody>
          <a:bodyPr wrap="square" lIns="0" tIns="0" rIns="0" bIns="0" rtlCol="0" anchor="t"/>
          <a:lstStyle/>
          <a:p>
            <a:pPr indent="0" marL="0">
              <a:buNone/>
            </a:pPr>
            <a:r>
              <a:rPr lang="en-US" sz="1200" dirty="0">
                <a:solidFill>
                  <a:srgbClr val="94A3B8"/>
                </a:solidFill>
                <a:latin typeface="Calibri" pitchFamily="34" charset="0"/>
                <a:ea typeface="Calibri" pitchFamily="34" charset="-122"/>
                <a:cs typeface="Calibri" pitchFamily="34" charset="-120"/>
              </a:rPr>
              <a:t>Definimos una región de interés (ROI) limitada al terreno de juego.</a:t>
            </a:r>
            <a:endParaRPr lang="en-US" sz="1200" dirty="0"/>
          </a:p>
        </p:txBody>
      </p:sp>
      <p:sp>
        <p:nvSpPr>
          <p:cNvPr id="31" name="Shape 23"/>
          <p:cNvSpPr/>
          <p:nvPr/>
        </p:nvSpPr>
        <p:spPr>
          <a:xfrm>
            <a:off x="6263640" y="4160520"/>
            <a:ext cx="5532120" cy="2103120"/>
          </a:xfrm>
          <a:prstGeom prst="rect">
            <a:avLst/>
          </a:prstGeom>
          <a:solidFill>
            <a:srgbClr val="1B2A41"/>
          </a:solidFill>
          <a:ln/>
        </p:spPr>
      </p:sp>
      <p:pic>
        <p:nvPicPr>
          <p:cNvPr id="32" name="Image 6" descr="preencoded.png">    </p:cNvPr>
          <p:cNvPicPr>
            <a:picLocks noChangeAspect="1"/>
          </p:cNvPicPr>
          <p:nvPr/>
        </p:nvPicPr>
        <p:blipFill>
          <a:blip r:embed="rId7"/>
          <a:stretch>
            <a:fillRect/>
          </a:stretch>
        </p:blipFill>
        <p:spPr>
          <a:xfrm>
            <a:off x="6492240" y="4361688"/>
            <a:ext cx="320040" cy="320040"/>
          </a:xfrm>
          <a:prstGeom prst="rect">
            <a:avLst/>
          </a:prstGeom>
        </p:spPr>
      </p:pic>
      <p:sp>
        <p:nvSpPr>
          <p:cNvPr id="33" name="Text 24"/>
          <p:cNvSpPr/>
          <p:nvPr/>
        </p:nvSpPr>
        <p:spPr>
          <a:xfrm>
            <a:off x="6858000" y="4343400"/>
            <a:ext cx="4709160" cy="274320"/>
          </a:xfrm>
          <a:prstGeom prst="rect">
            <a:avLst/>
          </a:prstGeom>
          <a:noFill/>
          <a:ln/>
        </p:spPr>
        <p:txBody>
          <a:bodyPr wrap="square" lIns="0" tIns="0" rIns="0" bIns="0" rtlCol="0" anchor="ctr"/>
          <a:lstStyle/>
          <a:p>
            <a:pPr indent="0" marL="0">
              <a:buNone/>
            </a:pPr>
            <a:r>
              <a:rPr lang="en-US" sz="1000" b="1" spc="300" kern="0" dirty="0">
                <a:solidFill>
                  <a:srgbClr val="FFB020"/>
                </a:solidFill>
                <a:latin typeface="Calibri" pitchFamily="34" charset="0"/>
                <a:ea typeface="Calibri" pitchFamily="34" charset="-122"/>
                <a:cs typeface="Calibri" pitchFamily="34" charset="-120"/>
              </a:rPr>
              <a:t>PROBLEMA</a:t>
            </a:r>
            <a:endParaRPr lang="en-US" sz="1000" dirty="0"/>
          </a:p>
        </p:txBody>
      </p:sp>
      <p:sp>
        <p:nvSpPr>
          <p:cNvPr id="34" name="Text 25"/>
          <p:cNvSpPr/>
          <p:nvPr/>
        </p:nvSpPr>
        <p:spPr>
          <a:xfrm>
            <a:off x="6492240" y="4663440"/>
            <a:ext cx="5074920" cy="502920"/>
          </a:xfrm>
          <a:prstGeom prst="rect">
            <a:avLst/>
          </a:prstGeom>
          <a:noFill/>
          <a:ln/>
        </p:spPr>
        <p:txBody>
          <a:bodyPr wrap="square" lIns="0" tIns="0" rIns="0" bIns="0" rtlCol="0" anchor="t"/>
          <a:lstStyle/>
          <a:p>
            <a:pPr indent="0" marL="0">
              <a:buNone/>
            </a:pPr>
            <a:r>
              <a:rPr lang="en-US" sz="1500" b="1" dirty="0">
                <a:solidFill>
                  <a:srgbClr val="F1F5F9"/>
                </a:solidFill>
                <a:latin typeface="Calibri" pitchFamily="34" charset="0"/>
                <a:ea typeface="Calibri" pitchFamily="34" charset="-122"/>
                <a:cs typeface="Calibri" pitchFamily="34" charset="-120"/>
              </a:rPr>
              <a:t>Árbitros/porteros rompían el K-Means</a:t>
            </a:r>
            <a:endParaRPr lang="en-US" sz="1500" dirty="0"/>
          </a:p>
        </p:txBody>
      </p:sp>
      <p:sp>
        <p:nvSpPr>
          <p:cNvPr id="35" name="Shape 26"/>
          <p:cNvSpPr/>
          <p:nvPr/>
        </p:nvSpPr>
        <p:spPr>
          <a:xfrm>
            <a:off x="6492240" y="5257800"/>
            <a:ext cx="5074920" cy="0"/>
          </a:xfrm>
          <a:prstGeom prst="line">
            <a:avLst/>
          </a:prstGeom>
          <a:noFill/>
          <a:ln w="12700">
            <a:solidFill>
              <a:srgbClr val="334155"/>
            </a:solidFill>
            <a:prstDash val="solid"/>
          </a:ln>
        </p:spPr>
      </p:sp>
      <p:pic>
        <p:nvPicPr>
          <p:cNvPr id="36" name="Image 7" descr="preencoded.png">    </p:cNvPr>
          <p:cNvPicPr>
            <a:picLocks noChangeAspect="1"/>
          </p:cNvPicPr>
          <p:nvPr/>
        </p:nvPicPr>
        <p:blipFill>
          <a:blip r:embed="rId8"/>
          <a:stretch>
            <a:fillRect/>
          </a:stretch>
        </p:blipFill>
        <p:spPr>
          <a:xfrm>
            <a:off x="6492240" y="5394960"/>
            <a:ext cx="292608" cy="292608"/>
          </a:xfrm>
          <a:prstGeom prst="rect">
            <a:avLst/>
          </a:prstGeom>
        </p:spPr>
      </p:pic>
      <p:sp>
        <p:nvSpPr>
          <p:cNvPr id="37" name="Text 27"/>
          <p:cNvSpPr/>
          <p:nvPr/>
        </p:nvSpPr>
        <p:spPr>
          <a:xfrm>
            <a:off x="6858000" y="5376672"/>
            <a:ext cx="4709160" cy="274320"/>
          </a:xfrm>
          <a:prstGeom prst="rect">
            <a:avLst/>
          </a:prstGeom>
          <a:noFill/>
          <a:ln/>
        </p:spPr>
        <p:txBody>
          <a:bodyPr wrap="square" lIns="0" tIns="0" rIns="0" bIns="0" rtlCol="0" anchor="ctr"/>
          <a:lstStyle/>
          <a:p>
            <a:pPr indent="0" marL="0">
              <a:buNone/>
            </a:pPr>
            <a:r>
              <a:rPr lang="en-US" sz="1000" b="1" spc="300" kern="0" dirty="0">
                <a:solidFill>
                  <a:srgbClr val="00FF87"/>
                </a:solidFill>
                <a:latin typeface="Calibri" pitchFamily="34" charset="0"/>
                <a:ea typeface="Calibri" pitchFamily="34" charset="-122"/>
                <a:cs typeface="Calibri" pitchFamily="34" charset="-120"/>
              </a:rPr>
              <a:t>SOLUCIÓN</a:t>
            </a:r>
            <a:endParaRPr lang="en-US" sz="1000" dirty="0"/>
          </a:p>
        </p:txBody>
      </p:sp>
      <p:sp>
        <p:nvSpPr>
          <p:cNvPr id="38" name="Text 28"/>
          <p:cNvSpPr/>
          <p:nvPr/>
        </p:nvSpPr>
        <p:spPr>
          <a:xfrm>
            <a:off x="6492240" y="5669280"/>
            <a:ext cx="5074920" cy="502920"/>
          </a:xfrm>
          <a:prstGeom prst="rect">
            <a:avLst/>
          </a:prstGeom>
          <a:noFill/>
          <a:ln/>
        </p:spPr>
        <p:txBody>
          <a:bodyPr wrap="square" lIns="0" tIns="0" rIns="0" bIns="0" rtlCol="0" anchor="t"/>
          <a:lstStyle/>
          <a:p>
            <a:pPr indent="0" marL="0">
              <a:buNone/>
            </a:pPr>
            <a:r>
              <a:rPr lang="en-US" sz="1200" dirty="0">
                <a:solidFill>
                  <a:srgbClr val="94A3B8"/>
                </a:solidFill>
                <a:latin typeface="Calibri" pitchFamily="34" charset="0"/>
                <a:ea typeface="Calibri" pitchFamily="34" charset="-122"/>
                <a:cs typeface="Calibri" pitchFamily="34" charset="-120"/>
              </a:rPr>
              <a:t>Filtramos el negro del clustering y añadimos una categoría de outliers.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713232" y="292608"/>
            <a:ext cx="4572000" cy="274320"/>
          </a:xfrm>
          <a:prstGeom prst="rect">
            <a:avLst/>
          </a:prstGeom>
          <a:noFill/>
          <a:ln/>
        </p:spPr>
        <p:txBody>
          <a:bodyPr wrap="square" lIns="0" tIns="0" rIns="0" bIns="0" rtlCol="0" anchor="ctr"/>
          <a:lstStyle/>
          <a:p>
            <a:pPr indent="0" marL="0">
              <a:buNone/>
            </a:pPr>
            <a:r>
              <a:rPr lang="en-US" sz="1000" b="1" spc="400" kern="0" dirty="0">
                <a:solidFill>
                  <a:srgbClr val="00D4FF"/>
                </a:solidFill>
                <a:latin typeface="Calibri" pitchFamily="34" charset="0"/>
                <a:ea typeface="Calibri" pitchFamily="34" charset="-122"/>
                <a:cs typeface="Calibri" pitchFamily="34" charset="-120"/>
              </a:rPr>
              <a:t>VISIÓN ARTIFICIAL · UPV</a:t>
            </a:r>
            <a:endParaRPr lang="en-US" sz="1000" dirty="0"/>
          </a:p>
        </p:txBody>
      </p:sp>
      <p:sp>
        <p:nvSpPr>
          <p:cNvPr id="3" name="Text 1"/>
          <p:cNvSpPr/>
          <p:nvPr/>
        </p:nvSpPr>
        <p:spPr>
          <a:xfrm>
            <a:off x="548640" y="594360"/>
            <a:ext cx="10058400" cy="731520"/>
          </a:xfrm>
          <a:prstGeom prst="rect">
            <a:avLst/>
          </a:prstGeom>
          <a:noFill/>
          <a:ln/>
        </p:spPr>
        <p:txBody>
          <a:bodyPr wrap="square" lIns="0" tIns="0" rIns="0" bIns="0" rtlCol="0" anchor="ctr"/>
          <a:lstStyle/>
          <a:p>
            <a:pPr indent="0" marL="0">
              <a:buNone/>
            </a:pPr>
            <a:r>
              <a:rPr lang="en-US" sz="3200" b="1" dirty="0">
                <a:solidFill>
                  <a:srgbClr val="F1F5F9"/>
                </a:solidFill>
                <a:latin typeface="Calibri" pitchFamily="34" charset="0"/>
                <a:ea typeface="Calibri" pitchFamily="34" charset="-122"/>
                <a:cs typeface="Calibri" pitchFamily="34" charset="-120"/>
              </a:rPr>
              <a:t>Mejoras futuras y conclusión</a:t>
            </a:r>
            <a:endParaRPr lang="en-US" sz="3200" dirty="0"/>
          </a:p>
        </p:txBody>
      </p:sp>
      <p:sp>
        <p:nvSpPr>
          <p:cNvPr id="4" name="Text 2"/>
          <p:cNvSpPr/>
          <p:nvPr/>
        </p:nvSpPr>
        <p:spPr>
          <a:xfrm>
            <a:off x="548640" y="1280160"/>
            <a:ext cx="10058400" cy="365760"/>
          </a:xfrm>
          <a:prstGeom prst="rect">
            <a:avLst/>
          </a:prstGeom>
          <a:noFill/>
          <a:ln/>
        </p:spPr>
        <p:txBody>
          <a:bodyPr wrap="square" lIns="0" tIns="0" rIns="0" bIns="0" rtlCol="0" anchor="ctr"/>
          <a:lstStyle/>
          <a:p>
            <a:pPr indent="0" marL="0">
              <a:buNone/>
            </a:pPr>
            <a:r>
              <a:rPr lang="en-US" sz="1400" i="1" dirty="0">
                <a:solidFill>
                  <a:srgbClr val="94A3B8"/>
                </a:solidFill>
                <a:latin typeface="Calibri" pitchFamily="34" charset="0"/>
                <a:ea typeface="Calibri" pitchFamily="34" charset="-122"/>
                <a:cs typeface="Calibri" pitchFamily="34" charset="-120"/>
              </a:rPr>
              <a:t>Hasta dónde llegamos y por dónde se podría seguir</a:t>
            </a:r>
            <a:endParaRPr lang="en-US" sz="1400" dirty="0"/>
          </a:p>
        </p:txBody>
      </p:sp>
      <p:sp>
        <p:nvSpPr>
          <p:cNvPr id="5" name="Text 3"/>
          <p:cNvSpPr/>
          <p:nvPr/>
        </p:nvSpPr>
        <p:spPr>
          <a:xfrm>
            <a:off x="11155680" y="6446520"/>
            <a:ext cx="640080" cy="274320"/>
          </a:xfrm>
          <a:prstGeom prst="rect">
            <a:avLst/>
          </a:prstGeom>
          <a:noFill/>
          <a:ln/>
        </p:spPr>
        <p:txBody>
          <a:bodyPr wrap="square" lIns="0" tIns="0" rIns="0" bIns="0" rtlCol="0" anchor="ctr"/>
          <a:lstStyle/>
          <a:p>
            <a:pPr algn="r" indent="0" marL="0">
              <a:buNone/>
            </a:pPr>
            <a:r>
              <a:rPr lang="en-US" sz="1000" dirty="0">
                <a:solidFill>
                  <a:srgbClr val="94A3B8"/>
                </a:solidFill>
                <a:latin typeface="Consolas" pitchFamily="34" charset="0"/>
                <a:ea typeface="Consolas" pitchFamily="34" charset="-122"/>
                <a:cs typeface="Consolas" pitchFamily="34" charset="-120"/>
              </a:rPr>
              <a:t>8 / 9</a:t>
            </a:r>
            <a:endParaRPr lang="en-US" sz="1000" dirty="0"/>
          </a:p>
        </p:txBody>
      </p:sp>
      <p:sp>
        <p:nvSpPr>
          <p:cNvPr id="6" name="Shape 4"/>
          <p:cNvSpPr/>
          <p:nvPr/>
        </p:nvSpPr>
        <p:spPr>
          <a:xfrm>
            <a:off x="548640" y="320040"/>
            <a:ext cx="45720" cy="164592"/>
          </a:xfrm>
          <a:prstGeom prst="rect">
            <a:avLst/>
          </a:prstGeom>
          <a:solidFill>
            <a:srgbClr val="00D4FF"/>
          </a:solidFill>
          <a:ln/>
        </p:spPr>
      </p:sp>
      <p:pic>
        <p:nvPicPr>
          <p:cNvPr id="7" name="Image 0" descr="preencoded.png">    </p:cNvPr>
          <p:cNvPicPr>
            <a:picLocks noChangeAspect="1"/>
          </p:cNvPicPr>
          <p:nvPr/>
        </p:nvPicPr>
        <p:blipFill>
          <a:blip r:embed="rId1"/>
          <a:stretch>
            <a:fillRect/>
          </a:stretch>
        </p:blipFill>
        <p:spPr>
          <a:xfrm>
            <a:off x="548640" y="1874520"/>
            <a:ext cx="365760" cy="365760"/>
          </a:xfrm>
          <a:prstGeom prst="rect">
            <a:avLst/>
          </a:prstGeom>
        </p:spPr>
      </p:pic>
      <p:sp>
        <p:nvSpPr>
          <p:cNvPr id="8" name="Text 5"/>
          <p:cNvSpPr/>
          <p:nvPr/>
        </p:nvSpPr>
        <p:spPr>
          <a:xfrm>
            <a:off x="1005840" y="1874520"/>
            <a:ext cx="5486400" cy="365760"/>
          </a:xfrm>
          <a:prstGeom prst="rect">
            <a:avLst/>
          </a:prstGeom>
          <a:noFill/>
          <a:ln/>
        </p:spPr>
        <p:txBody>
          <a:bodyPr wrap="square" lIns="0" tIns="0" rIns="0" bIns="0" rtlCol="0" anchor="ctr"/>
          <a:lstStyle/>
          <a:p>
            <a:pPr indent="0" marL="0">
              <a:buNone/>
            </a:pPr>
            <a:r>
              <a:rPr lang="en-US" sz="1200" b="1" spc="300" kern="0" dirty="0">
                <a:solidFill>
                  <a:srgbClr val="00D4FF"/>
                </a:solidFill>
                <a:latin typeface="Calibri" pitchFamily="34" charset="0"/>
                <a:ea typeface="Calibri" pitchFamily="34" charset="-122"/>
                <a:cs typeface="Calibri" pitchFamily="34" charset="-120"/>
              </a:rPr>
              <a:t>HACIA DÓNDE PUEDE CRECER</a:t>
            </a:r>
            <a:endParaRPr lang="en-US" sz="1200" dirty="0"/>
          </a:p>
        </p:txBody>
      </p:sp>
      <p:sp>
        <p:nvSpPr>
          <p:cNvPr id="9" name="Shape 6"/>
          <p:cNvSpPr/>
          <p:nvPr/>
        </p:nvSpPr>
        <p:spPr>
          <a:xfrm>
            <a:off x="594360" y="2404872"/>
            <a:ext cx="164592" cy="164592"/>
          </a:xfrm>
          <a:prstGeom prst="ellipse">
            <a:avLst/>
          </a:prstGeom>
          <a:solidFill>
            <a:srgbClr val="00D4FF"/>
          </a:solidFill>
          <a:ln/>
        </p:spPr>
      </p:sp>
      <p:sp>
        <p:nvSpPr>
          <p:cNvPr id="10" name="Text 7"/>
          <p:cNvSpPr/>
          <p:nvPr/>
        </p:nvSpPr>
        <p:spPr>
          <a:xfrm>
            <a:off x="868680" y="2331720"/>
            <a:ext cx="5303520" cy="320040"/>
          </a:xfrm>
          <a:prstGeom prst="rect">
            <a:avLst/>
          </a:prstGeom>
          <a:noFill/>
          <a:ln/>
        </p:spPr>
        <p:txBody>
          <a:bodyPr wrap="square" lIns="0" tIns="0" rIns="0" bIns="0" rtlCol="0" anchor="ctr"/>
          <a:lstStyle/>
          <a:p>
            <a:pPr indent="0" marL="0">
              <a:buNone/>
            </a:pPr>
            <a:r>
              <a:rPr lang="en-US" sz="1300" b="1" dirty="0">
                <a:solidFill>
                  <a:srgbClr val="F1F5F9"/>
                </a:solidFill>
                <a:latin typeface="Calibri" pitchFamily="34" charset="0"/>
                <a:ea typeface="Calibri" pitchFamily="34" charset="-122"/>
                <a:cs typeface="Calibri" pitchFamily="34" charset="-120"/>
              </a:rPr>
              <a:t>Entrenamiento específico fútbol</a:t>
            </a:r>
            <a:endParaRPr lang="en-US" sz="1300" dirty="0"/>
          </a:p>
        </p:txBody>
      </p:sp>
      <p:sp>
        <p:nvSpPr>
          <p:cNvPr id="11" name="Text 8"/>
          <p:cNvSpPr/>
          <p:nvPr/>
        </p:nvSpPr>
        <p:spPr>
          <a:xfrm>
            <a:off x="868680" y="2660904"/>
            <a:ext cx="5303520" cy="411480"/>
          </a:xfrm>
          <a:prstGeom prst="rect">
            <a:avLst/>
          </a:prstGeom>
          <a:noFill/>
          <a:ln/>
        </p:spPr>
        <p:txBody>
          <a:bodyPr wrap="square" lIns="0" tIns="0" rIns="0" bIns="0" rtlCol="0" anchor="t"/>
          <a:lstStyle/>
          <a:p>
            <a:pPr indent="0" marL="0">
              <a:buNone/>
            </a:pPr>
            <a:r>
              <a:rPr lang="en-US" sz="1100" dirty="0">
                <a:solidFill>
                  <a:srgbClr val="94A3B8"/>
                </a:solidFill>
                <a:latin typeface="Calibri" pitchFamily="34" charset="0"/>
                <a:ea typeface="Calibri" pitchFamily="34" charset="-122"/>
                <a:cs typeface="Calibri" pitchFamily="34" charset="-120"/>
              </a:rPr>
              <a:t>Reentrenar YOLOv8 con SoccerNet para mejorar balón y jugadores.</a:t>
            </a:r>
            <a:endParaRPr lang="en-US" sz="1100" dirty="0"/>
          </a:p>
        </p:txBody>
      </p:sp>
      <p:sp>
        <p:nvSpPr>
          <p:cNvPr id="12" name="Shape 9"/>
          <p:cNvSpPr/>
          <p:nvPr/>
        </p:nvSpPr>
        <p:spPr>
          <a:xfrm>
            <a:off x="594360" y="3182112"/>
            <a:ext cx="164592" cy="164592"/>
          </a:xfrm>
          <a:prstGeom prst="ellipse">
            <a:avLst/>
          </a:prstGeom>
          <a:solidFill>
            <a:srgbClr val="00D4FF"/>
          </a:solidFill>
          <a:ln/>
        </p:spPr>
      </p:sp>
      <p:sp>
        <p:nvSpPr>
          <p:cNvPr id="13" name="Text 10"/>
          <p:cNvSpPr/>
          <p:nvPr/>
        </p:nvSpPr>
        <p:spPr>
          <a:xfrm>
            <a:off x="868680" y="3108960"/>
            <a:ext cx="5303520" cy="320040"/>
          </a:xfrm>
          <a:prstGeom prst="rect">
            <a:avLst/>
          </a:prstGeom>
          <a:noFill/>
          <a:ln/>
        </p:spPr>
        <p:txBody>
          <a:bodyPr wrap="square" lIns="0" tIns="0" rIns="0" bIns="0" rtlCol="0" anchor="ctr"/>
          <a:lstStyle/>
          <a:p>
            <a:pPr indent="0" marL="0">
              <a:buNone/>
            </a:pPr>
            <a:r>
              <a:rPr lang="en-US" sz="1300" b="1" dirty="0">
                <a:solidFill>
                  <a:srgbClr val="F1F5F9"/>
                </a:solidFill>
                <a:latin typeface="Calibri" pitchFamily="34" charset="0"/>
                <a:ea typeface="Calibri" pitchFamily="34" charset="-122"/>
                <a:cs typeface="Calibri" pitchFamily="34" charset="-120"/>
              </a:rPr>
              <a:t>Re-ID avanzada</a:t>
            </a:r>
            <a:endParaRPr lang="en-US" sz="1300" dirty="0"/>
          </a:p>
        </p:txBody>
      </p:sp>
      <p:sp>
        <p:nvSpPr>
          <p:cNvPr id="14" name="Text 11"/>
          <p:cNvSpPr/>
          <p:nvPr/>
        </p:nvSpPr>
        <p:spPr>
          <a:xfrm>
            <a:off x="868680" y="3438144"/>
            <a:ext cx="5303520" cy="411480"/>
          </a:xfrm>
          <a:prstGeom prst="rect">
            <a:avLst/>
          </a:prstGeom>
          <a:noFill/>
          <a:ln/>
        </p:spPr>
        <p:txBody>
          <a:bodyPr wrap="square" lIns="0" tIns="0" rIns="0" bIns="0" rtlCol="0" anchor="t"/>
          <a:lstStyle/>
          <a:p>
            <a:pPr indent="0" marL="0">
              <a:buNone/>
            </a:pPr>
            <a:r>
              <a:rPr lang="en-US" sz="1100" dirty="0">
                <a:solidFill>
                  <a:srgbClr val="94A3B8"/>
                </a:solidFill>
                <a:latin typeface="Calibri" pitchFamily="34" charset="0"/>
                <a:ea typeface="Calibri" pitchFamily="34" charset="-122"/>
                <a:cs typeface="Calibri" pitchFamily="34" charset="-120"/>
              </a:rPr>
              <a:t>DeepSORT / BoTSORT con embedding visual por jugador.</a:t>
            </a:r>
            <a:endParaRPr lang="en-US" sz="1100" dirty="0"/>
          </a:p>
        </p:txBody>
      </p:sp>
      <p:sp>
        <p:nvSpPr>
          <p:cNvPr id="15" name="Shape 12"/>
          <p:cNvSpPr/>
          <p:nvPr/>
        </p:nvSpPr>
        <p:spPr>
          <a:xfrm>
            <a:off x="594360" y="3959352"/>
            <a:ext cx="164592" cy="164592"/>
          </a:xfrm>
          <a:prstGeom prst="ellipse">
            <a:avLst/>
          </a:prstGeom>
          <a:solidFill>
            <a:srgbClr val="00D4FF"/>
          </a:solidFill>
          <a:ln/>
        </p:spPr>
      </p:sp>
      <p:sp>
        <p:nvSpPr>
          <p:cNvPr id="16" name="Text 13"/>
          <p:cNvSpPr/>
          <p:nvPr/>
        </p:nvSpPr>
        <p:spPr>
          <a:xfrm>
            <a:off x="868680" y="3886200"/>
            <a:ext cx="5303520" cy="320040"/>
          </a:xfrm>
          <a:prstGeom prst="rect">
            <a:avLst/>
          </a:prstGeom>
          <a:noFill/>
          <a:ln/>
        </p:spPr>
        <p:txBody>
          <a:bodyPr wrap="square" lIns="0" tIns="0" rIns="0" bIns="0" rtlCol="0" anchor="ctr"/>
          <a:lstStyle/>
          <a:p>
            <a:pPr indent="0" marL="0">
              <a:buNone/>
            </a:pPr>
            <a:r>
              <a:rPr lang="en-US" sz="1300" b="1" dirty="0">
                <a:solidFill>
                  <a:srgbClr val="F1F5F9"/>
                </a:solidFill>
                <a:latin typeface="Calibri" pitchFamily="34" charset="0"/>
                <a:ea typeface="Calibri" pitchFamily="34" charset="-122"/>
                <a:cs typeface="Calibri" pitchFamily="34" charset="-120"/>
              </a:rPr>
              <a:t>Analítica táctica</a:t>
            </a:r>
            <a:endParaRPr lang="en-US" sz="1300" dirty="0"/>
          </a:p>
        </p:txBody>
      </p:sp>
      <p:sp>
        <p:nvSpPr>
          <p:cNvPr id="17" name="Text 14"/>
          <p:cNvSpPr/>
          <p:nvPr/>
        </p:nvSpPr>
        <p:spPr>
          <a:xfrm>
            <a:off x="868680" y="4215384"/>
            <a:ext cx="5303520" cy="411480"/>
          </a:xfrm>
          <a:prstGeom prst="rect">
            <a:avLst/>
          </a:prstGeom>
          <a:noFill/>
          <a:ln/>
        </p:spPr>
        <p:txBody>
          <a:bodyPr wrap="square" lIns="0" tIns="0" rIns="0" bIns="0" rtlCol="0" anchor="t"/>
          <a:lstStyle/>
          <a:p>
            <a:pPr indent="0" marL="0">
              <a:buNone/>
            </a:pPr>
            <a:r>
              <a:rPr lang="en-US" sz="1100" dirty="0">
                <a:solidFill>
                  <a:srgbClr val="94A3B8"/>
                </a:solidFill>
                <a:latin typeface="Calibri" pitchFamily="34" charset="0"/>
                <a:ea typeface="Calibri" pitchFamily="34" charset="-122"/>
                <a:cs typeface="Calibri" pitchFamily="34" charset="-120"/>
              </a:rPr>
              <a:t>Proyectar al campo real (metros): formación, distancia, posesión.</a:t>
            </a:r>
            <a:endParaRPr lang="en-US" sz="1100" dirty="0"/>
          </a:p>
        </p:txBody>
      </p:sp>
      <p:sp>
        <p:nvSpPr>
          <p:cNvPr id="18" name="Shape 15"/>
          <p:cNvSpPr/>
          <p:nvPr/>
        </p:nvSpPr>
        <p:spPr>
          <a:xfrm>
            <a:off x="594360" y="4736592"/>
            <a:ext cx="164592" cy="164592"/>
          </a:xfrm>
          <a:prstGeom prst="ellipse">
            <a:avLst/>
          </a:prstGeom>
          <a:solidFill>
            <a:srgbClr val="00D4FF"/>
          </a:solidFill>
          <a:ln/>
        </p:spPr>
      </p:sp>
      <p:sp>
        <p:nvSpPr>
          <p:cNvPr id="19" name="Text 16"/>
          <p:cNvSpPr/>
          <p:nvPr/>
        </p:nvSpPr>
        <p:spPr>
          <a:xfrm>
            <a:off x="868680" y="4663440"/>
            <a:ext cx="5303520" cy="320040"/>
          </a:xfrm>
          <a:prstGeom prst="rect">
            <a:avLst/>
          </a:prstGeom>
          <a:noFill/>
          <a:ln/>
        </p:spPr>
        <p:txBody>
          <a:bodyPr wrap="square" lIns="0" tIns="0" rIns="0" bIns="0" rtlCol="0" anchor="ctr"/>
          <a:lstStyle/>
          <a:p>
            <a:pPr indent="0" marL="0">
              <a:buNone/>
            </a:pPr>
            <a:r>
              <a:rPr lang="en-US" sz="1300" b="1" dirty="0">
                <a:solidFill>
                  <a:srgbClr val="F1F5F9"/>
                </a:solidFill>
                <a:latin typeface="Calibri" pitchFamily="34" charset="0"/>
                <a:ea typeface="Calibri" pitchFamily="34" charset="-122"/>
                <a:cs typeface="Calibri" pitchFamily="34" charset="-120"/>
              </a:rPr>
              <a:t>Interfaz gráfica</a:t>
            </a:r>
            <a:endParaRPr lang="en-US" sz="1300" dirty="0"/>
          </a:p>
        </p:txBody>
      </p:sp>
      <p:sp>
        <p:nvSpPr>
          <p:cNvPr id="20" name="Text 17"/>
          <p:cNvSpPr/>
          <p:nvPr/>
        </p:nvSpPr>
        <p:spPr>
          <a:xfrm>
            <a:off x="868680" y="4992624"/>
            <a:ext cx="5303520" cy="411480"/>
          </a:xfrm>
          <a:prstGeom prst="rect">
            <a:avLst/>
          </a:prstGeom>
          <a:noFill/>
          <a:ln/>
        </p:spPr>
        <p:txBody>
          <a:bodyPr wrap="square" lIns="0" tIns="0" rIns="0" bIns="0" rtlCol="0" anchor="t"/>
          <a:lstStyle/>
          <a:p>
            <a:pPr indent="0" marL="0">
              <a:buNone/>
            </a:pPr>
            <a:r>
              <a:rPr lang="en-US" sz="1100" dirty="0">
                <a:solidFill>
                  <a:srgbClr val="94A3B8"/>
                </a:solidFill>
                <a:latin typeface="Calibri" pitchFamily="34" charset="0"/>
                <a:ea typeface="Calibri" pitchFamily="34" charset="-122"/>
                <a:cs typeface="Calibri" pitchFamily="34" charset="-120"/>
              </a:rPr>
              <a:t>Drag-and-drop del vídeo para usuarios no técnicos.</a:t>
            </a:r>
            <a:endParaRPr lang="en-US" sz="1100" dirty="0"/>
          </a:p>
        </p:txBody>
      </p:sp>
      <p:sp>
        <p:nvSpPr>
          <p:cNvPr id="21" name="Shape 18"/>
          <p:cNvSpPr/>
          <p:nvPr/>
        </p:nvSpPr>
        <p:spPr>
          <a:xfrm>
            <a:off x="594360" y="5513832"/>
            <a:ext cx="164592" cy="164592"/>
          </a:xfrm>
          <a:prstGeom prst="ellipse">
            <a:avLst/>
          </a:prstGeom>
          <a:solidFill>
            <a:srgbClr val="00D4FF"/>
          </a:solidFill>
          <a:ln/>
        </p:spPr>
      </p:sp>
      <p:sp>
        <p:nvSpPr>
          <p:cNvPr id="22" name="Text 19"/>
          <p:cNvSpPr/>
          <p:nvPr/>
        </p:nvSpPr>
        <p:spPr>
          <a:xfrm>
            <a:off x="868680" y="5440680"/>
            <a:ext cx="5303520" cy="320040"/>
          </a:xfrm>
          <a:prstGeom prst="rect">
            <a:avLst/>
          </a:prstGeom>
          <a:noFill/>
          <a:ln/>
        </p:spPr>
        <p:txBody>
          <a:bodyPr wrap="square" lIns="0" tIns="0" rIns="0" bIns="0" rtlCol="0" anchor="ctr"/>
          <a:lstStyle/>
          <a:p>
            <a:pPr indent="0" marL="0">
              <a:buNone/>
            </a:pPr>
            <a:r>
              <a:rPr lang="en-US" sz="1300" b="1" dirty="0">
                <a:solidFill>
                  <a:srgbClr val="F1F5F9"/>
                </a:solidFill>
                <a:latin typeface="Calibri" pitchFamily="34" charset="0"/>
                <a:ea typeface="Calibri" pitchFamily="34" charset="-122"/>
                <a:cs typeface="Calibri" pitchFamily="34" charset="-120"/>
              </a:rPr>
              <a:t>Multi-cámara</a:t>
            </a:r>
            <a:endParaRPr lang="en-US" sz="1300" dirty="0"/>
          </a:p>
        </p:txBody>
      </p:sp>
      <p:sp>
        <p:nvSpPr>
          <p:cNvPr id="23" name="Text 20"/>
          <p:cNvSpPr/>
          <p:nvPr/>
        </p:nvSpPr>
        <p:spPr>
          <a:xfrm>
            <a:off x="868680" y="5769864"/>
            <a:ext cx="5303520" cy="411480"/>
          </a:xfrm>
          <a:prstGeom prst="rect">
            <a:avLst/>
          </a:prstGeom>
          <a:noFill/>
          <a:ln/>
        </p:spPr>
        <p:txBody>
          <a:bodyPr wrap="square" lIns="0" tIns="0" rIns="0" bIns="0" rtlCol="0" anchor="t"/>
          <a:lstStyle/>
          <a:p>
            <a:pPr indent="0" marL="0">
              <a:buNone/>
            </a:pPr>
            <a:r>
              <a:rPr lang="en-US" sz="1100" dirty="0">
                <a:solidFill>
                  <a:srgbClr val="94A3B8"/>
                </a:solidFill>
                <a:latin typeface="Calibri" pitchFamily="34" charset="0"/>
                <a:ea typeface="Calibri" pitchFamily="34" charset="-122"/>
                <a:cs typeface="Calibri" pitchFamily="34" charset="-120"/>
              </a:rPr>
              <a:t>Combinar varias cámaras del estadio, sin puntos ciegos.</a:t>
            </a:r>
            <a:endParaRPr lang="en-US" sz="1100" dirty="0"/>
          </a:p>
        </p:txBody>
      </p:sp>
      <p:sp>
        <p:nvSpPr>
          <p:cNvPr id="24" name="Shape 21"/>
          <p:cNvSpPr/>
          <p:nvPr/>
        </p:nvSpPr>
        <p:spPr>
          <a:xfrm>
            <a:off x="6766560" y="1874520"/>
            <a:ext cx="4846320" cy="4297680"/>
          </a:xfrm>
          <a:prstGeom prst="rect">
            <a:avLst/>
          </a:prstGeom>
          <a:solidFill>
            <a:srgbClr val="1B2A41"/>
          </a:solidFill>
          <a:ln/>
        </p:spPr>
      </p:sp>
      <p:sp>
        <p:nvSpPr>
          <p:cNvPr id="25" name="Shape 22"/>
          <p:cNvSpPr/>
          <p:nvPr/>
        </p:nvSpPr>
        <p:spPr>
          <a:xfrm>
            <a:off x="6766560" y="1874520"/>
            <a:ext cx="4846320" cy="502920"/>
          </a:xfrm>
          <a:prstGeom prst="rect">
            <a:avLst/>
          </a:prstGeom>
          <a:solidFill>
            <a:srgbClr val="00D4FF"/>
          </a:solidFill>
          <a:ln/>
        </p:spPr>
      </p:sp>
      <p:sp>
        <p:nvSpPr>
          <p:cNvPr id="26" name="Text 23"/>
          <p:cNvSpPr/>
          <p:nvPr/>
        </p:nvSpPr>
        <p:spPr>
          <a:xfrm>
            <a:off x="6766560" y="1874520"/>
            <a:ext cx="4846320" cy="502920"/>
          </a:xfrm>
          <a:prstGeom prst="rect">
            <a:avLst/>
          </a:prstGeom>
          <a:noFill/>
          <a:ln/>
        </p:spPr>
        <p:txBody>
          <a:bodyPr wrap="square" lIns="0" tIns="0" rIns="0" bIns="0" rtlCol="0" anchor="ctr"/>
          <a:lstStyle/>
          <a:p>
            <a:pPr algn="ctr" indent="0" marL="0">
              <a:buNone/>
            </a:pPr>
            <a:r>
              <a:rPr lang="en-US" sz="1400" b="1" spc="400" kern="0" dirty="0">
                <a:solidFill>
                  <a:srgbClr val="0A1628"/>
                </a:solidFill>
                <a:latin typeface="Calibri" pitchFamily="34" charset="0"/>
                <a:ea typeface="Calibri" pitchFamily="34" charset="-122"/>
                <a:cs typeface="Calibri" pitchFamily="34" charset="-120"/>
              </a:rPr>
              <a:t>CONCLUSIÓN</a:t>
            </a:r>
            <a:endParaRPr lang="en-US" sz="1400" dirty="0"/>
          </a:p>
        </p:txBody>
      </p:sp>
      <p:sp>
        <p:nvSpPr>
          <p:cNvPr id="27" name="Text 24"/>
          <p:cNvSpPr/>
          <p:nvPr/>
        </p:nvSpPr>
        <p:spPr>
          <a:xfrm>
            <a:off x="6949440" y="2560320"/>
            <a:ext cx="4572000" cy="502920"/>
          </a:xfrm>
          <a:prstGeom prst="rect">
            <a:avLst/>
          </a:prstGeom>
          <a:noFill/>
          <a:ln/>
        </p:spPr>
        <p:txBody>
          <a:bodyPr wrap="square" lIns="0" tIns="0" rIns="0" bIns="0" rtlCol="0" anchor="ctr"/>
          <a:lstStyle/>
          <a:p>
            <a:pPr indent="0" marL="0">
              <a:buNone/>
            </a:pPr>
            <a:r>
              <a:rPr lang="en-US" sz="2800" b="1" dirty="0">
                <a:solidFill>
                  <a:srgbClr val="00FF87"/>
                </a:solidFill>
                <a:latin typeface="Arial Black" pitchFamily="34" charset="0"/>
                <a:ea typeface="Arial Black" pitchFamily="34" charset="-122"/>
                <a:cs typeface="Arial Black" pitchFamily="34" charset="-120"/>
              </a:rPr>
              <a:t>Lo hace.</a:t>
            </a:r>
            <a:endParaRPr lang="en-US" sz="2800" dirty="0"/>
          </a:p>
        </p:txBody>
      </p:sp>
      <p:sp>
        <p:nvSpPr>
          <p:cNvPr id="28" name="Text 25"/>
          <p:cNvSpPr/>
          <p:nvPr/>
        </p:nvSpPr>
        <p:spPr>
          <a:xfrm>
            <a:off x="6949440" y="3154680"/>
            <a:ext cx="4526280" cy="960120"/>
          </a:xfrm>
          <a:prstGeom prst="rect">
            <a:avLst/>
          </a:prstGeom>
          <a:noFill/>
          <a:ln/>
        </p:spPr>
        <p:txBody>
          <a:bodyPr wrap="square" lIns="0" tIns="0" rIns="0" bIns="0" rtlCol="0" anchor="t"/>
          <a:lstStyle/>
          <a:p>
            <a:pPr indent="0" marL="0">
              <a:buNone/>
            </a:pPr>
            <a:r>
              <a:rPr lang="en-US" sz="1200" dirty="0">
                <a:solidFill>
                  <a:srgbClr val="F1F5F9"/>
                </a:solidFill>
                <a:latin typeface="Calibri" pitchFamily="34" charset="0"/>
                <a:ea typeface="Calibri" pitchFamily="34" charset="-122"/>
                <a:cs typeface="Calibri" pitchFamily="34" charset="-120"/>
              </a:rPr>
              <a:t>Coges un vídeo, lo procesas, y obtienes el partido anotado con jugadores separados por equipos, IDs estables y mapas de calor 2D y 3D.</a:t>
            </a:r>
            <a:endParaRPr lang="en-US" sz="1200" dirty="0"/>
          </a:p>
        </p:txBody>
      </p:sp>
      <p:pic>
        <p:nvPicPr>
          <p:cNvPr id="29" name="Image 1" descr="preencoded.png">    </p:cNvPr>
          <p:cNvPicPr>
            <a:picLocks noChangeAspect="1"/>
          </p:cNvPicPr>
          <p:nvPr/>
        </p:nvPicPr>
        <p:blipFill>
          <a:blip r:embed="rId2"/>
          <a:stretch>
            <a:fillRect/>
          </a:stretch>
        </p:blipFill>
        <p:spPr>
          <a:xfrm>
            <a:off x="6949440" y="4288536"/>
            <a:ext cx="201168" cy="201168"/>
          </a:xfrm>
          <a:prstGeom prst="rect">
            <a:avLst/>
          </a:prstGeom>
        </p:spPr>
      </p:pic>
      <p:sp>
        <p:nvSpPr>
          <p:cNvPr id="30" name="Text 26"/>
          <p:cNvSpPr/>
          <p:nvPr/>
        </p:nvSpPr>
        <p:spPr>
          <a:xfrm>
            <a:off x="7223760" y="4251960"/>
            <a:ext cx="4297680" cy="548640"/>
          </a:xfrm>
          <a:prstGeom prst="rect">
            <a:avLst/>
          </a:prstGeom>
          <a:noFill/>
          <a:ln/>
        </p:spPr>
        <p:txBody>
          <a:bodyPr wrap="square" lIns="0" tIns="0" rIns="0" bIns="0" rtlCol="0" anchor="t"/>
          <a:lstStyle/>
          <a:p>
            <a:pPr indent="0" marL="0">
              <a:buNone/>
            </a:pPr>
            <a:r>
              <a:rPr lang="en-US" sz="1100" dirty="0">
                <a:solidFill>
                  <a:srgbClr val="94A3B8"/>
                </a:solidFill>
                <a:latin typeface="Calibri" pitchFamily="34" charset="0"/>
                <a:ea typeface="Calibri" pitchFamily="34" charset="-122"/>
                <a:cs typeface="Calibri" pitchFamily="34" charset="-120"/>
              </a:rPr>
              <a:t>Falla en lo que era de esperar (balón, cruces): limitaciones honestas, no maquilladas.</a:t>
            </a:r>
            <a:endParaRPr lang="en-US" sz="1100" dirty="0"/>
          </a:p>
        </p:txBody>
      </p:sp>
      <p:pic>
        <p:nvPicPr>
          <p:cNvPr id="31" name="Image 2" descr="preencoded.png">    </p:cNvPr>
          <p:cNvPicPr>
            <a:picLocks noChangeAspect="1"/>
          </p:cNvPicPr>
          <p:nvPr/>
        </p:nvPicPr>
        <p:blipFill>
          <a:blip r:embed="rId3"/>
          <a:stretch>
            <a:fillRect/>
          </a:stretch>
        </p:blipFill>
        <p:spPr>
          <a:xfrm>
            <a:off x="6949440" y="4882896"/>
            <a:ext cx="201168" cy="201168"/>
          </a:xfrm>
          <a:prstGeom prst="rect">
            <a:avLst/>
          </a:prstGeom>
        </p:spPr>
      </p:pic>
      <p:sp>
        <p:nvSpPr>
          <p:cNvPr id="32" name="Text 27"/>
          <p:cNvSpPr/>
          <p:nvPr/>
        </p:nvSpPr>
        <p:spPr>
          <a:xfrm>
            <a:off x="7223760" y="4846320"/>
            <a:ext cx="4297680" cy="548640"/>
          </a:xfrm>
          <a:prstGeom prst="rect">
            <a:avLst/>
          </a:prstGeom>
          <a:noFill/>
          <a:ln/>
        </p:spPr>
        <p:txBody>
          <a:bodyPr wrap="square" lIns="0" tIns="0" rIns="0" bIns="0" rtlCol="0" anchor="t"/>
          <a:lstStyle/>
          <a:p>
            <a:pPr indent="0" marL="0">
              <a:buNone/>
            </a:pPr>
            <a:r>
              <a:rPr lang="en-US" sz="1100" dirty="0">
                <a:solidFill>
                  <a:srgbClr val="94A3B8"/>
                </a:solidFill>
                <a:latin typeface="Calibri" pitchFamily="34" charset="0"/>
                <a:ea typeface="Calibri" pitchFamily="34" charset="-122"/>
                <a:cs typeface="Calibri" pitchFamily="34" charset="-120"/>
              </a:rPr>
              <a:t>Tracking multiobjeto, clustering por color y deep learning aplicado: aprendizaje real.</a:t>
            </a:r>
            <a:endParaRPr lang="en-US" sz="1100" dirty="0"/>
          </a:p>
        </p:txBody>
      </p:sp>
      <p:pic>
        <p:nvPicPr>
          <p:cNvPr id="33" name="Image 3" descr="preencoded.png">    </p:cNvPr>
          <p:cNvPicPr>
            <a:picLocks noChangeAspect="1"/>
          </p:cNvPicPr>
          <p:nvPr/>
        </p:nvPicPr>
        <p:blipFill>
          <a:blip r:embed="rId4"/>
          <a:stretch>
            <a:fillRect/>
          </a:stretch>
        </p:blipFill>
        <p:spPr>
          <a:xfrm>
            <a:off x="6949440" y="5477256"/>
            <a:ext cx="201168" cy="201168"/>
          </a:xfrm>
          <a:prstGeom prst="rect">
            <a:avLst/>
          </a:prstGeom>
        </p:spPr>
      </p:pic>
      <p:sp>
        <p:nvSpPr>
          <p:cNvPr id="34" name="Text 28"/>
          <p:cNvSpPr/>
          <p:nvPr/>
        </p:nvSpPr>
        <p:spPr>
          <a:xfrm>
            <a:off x="7223760" y="5440680"/>
            <a:ext cx="4297680" cy="548640"/>
          </a:xfrm>
          <a:prstGeom prst="rect">
            <a:avLst/>
          </a:prstGeom>
          <a:noFill/>
          <a:ln/>
        </p:spPr>
        <p:txBody>
          <a:bodyPr wrap="square" lIns="0" tIns="0" rIns="0" bIns="0" rtlCol="0" anchor="t"/>
          <a:lstStyle/>
          <a:p>
            <a:pPr indent="0" marL="0">
              <a:buNone/>
            </a:pPr>
            <a:r>
              <a:rPr lang="en-US" sz="1100" dirty="0">
                <a:solidFill>
                  <a:srgbClr val="94A3B8"/>
                </a:solidFill>
                <a:latin typeface="Calibri" pitchFamily="34" charset="0"/>
                <a:ea typeface="Calibri" pitchFamily="34" charset="-122"/>
                <a:cs typeface="Calibri" pitchFamily="34" charset="-120"/>
              </a:rPr>
              <a:t>La IA generativa aceleró el desarrollo, pero las decisiones de diseño son nuestras.</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548640" y="457200"/>
            <a:ext cx="45720" cy="164592"/>
          </a:xfrm>
          <a:prstGeom prst="rect">
            <a:avLst/>
          </a:prstGeom>
          <a:solidFill>
            <a:srgbClr val="00D4FF"/>
          </a:solidFill>
          <a:ln/>
        </p:spPr>
      </p:sp>
      <p:sp>
        <p:nvSpPr>
          <p:cNvPr id="3" name="Text 1"/>
          <p:cNvSpPr/>
          <p:nvPr/>
        </p:nvSpPr>
        <p:spPr>
          <a:xfrm>
            <a:off x="713232" y="411480"/>
            <a:ext cx="4572000" cy="274320"/>
          </a:xfrm>
          <a:prstGeom prst="rect">
            <a:avLst/>
          </a:prstGeom>
          <a:noFill/>
          <a:ln/>
        </p:spPr>
        <p:txBody>
          <a:bodyPr wrap="square" lIns="0" tIns="0" rIns="0" bIns="0" rtlCol="0" anchor="ctr"/>
          <a:lstStyle/>
          <a:p>
            <a:pPr indent="0" marL="0">
              <a:buNone/>
            </a:pPr>
            <a:r>
              <a:rPr lang="en-US" sz="1000" b="1" spc="400" kern="0" dirty="0">
                <a:solidFill>
                  <a:srgbClr val="00D4FF"/>
                </a:solidFill>
                <a:latin typeface="Calibri" pitchFamily="34" charset="0"/>
                <a:ea typeface="Calibri" pitchFamily="34" charset="-122"/>
                <a:cs typeface="Calibri" pitchFamily="34" charset="-120"/>
              </a:rPr>
              <a:t>VISIÓN ARTIFICIAL · UPV</a:t>
            </a:r>
            <a:endParaRPr lang="en-US" sz="1000" dirty="0"/>
          </a:p>
        </p:txBody>
      </p:sp>
      <p:sp>
        <p:nvSpPr>
          <p:cNvPr id="4" name="Text 2"/>
          <p:cNvSpPr/>
          <p:nvPr/>
        </p:nvSpPr>
        <p:spPr>
          <a:xfrm>
            <a:off x="548640" y="1828800"/>
            <a:ext cx="11064240" cy="1463040"/>
          </a:xfrm>
          <a:prstGeom prst="rect">
            <a:avLst/>
          </a:prstGeom>
          <a:noFill/>
          <a:ln/>
        </p:spPr>
        <p:txBody>
          <a:bodyPr wrap="square" lIns="0" tIns="0" rIns="0" bIns="0" rtlCol="0" anchor="ctr"/>
          <a:lstStyle/>
          <a:p>
            <a:pPr algn="ctr" indent="0" marL="0">
              <a:buNone/>
            </a:pPr>
            <a:r>
              <a:rPr lang="en-US" sz="11000" b="1" dirty="0">
                <a:solidFill>
                  <a:srgbClr val="00D4FF"/>
                </a:solidFill>
                <a:latin typeface="Arial Black" pitchFamily="34" charset="0"/>
                <a:ea typeface="Arial Black" pitchFamily="34" charset="-122"/>
                <a:cs typeface="Arial Black" pitchFamily="34" charset="-120"/>
              </a:rPr>
              <a:t>GRACIAS</a:t>
            </a:r>
            <a:endParaRPr lang="en-US" sz="11000" dirty="0"/>
          </a:p>
        </p:txBody>
      </p:sp>
      <p:sp>
        <p:nvSpPr>
          <p:cNvPr id="5" name="Text 3"/>
          <p:cNvSpPr/>
          <p:nvPr/>
        </p:nvSpPr>
        <p:spPr>
          <a:xfrm>
            <a:off x="548640" y="3474720"/>
            <a:ext cx="11064240" cy="640080"/>
          </a:xfrm>
          <a:prstGeom prst="rect">
            <a:avLst/>
          </a:prstGeom>
          <a:noFill/>
          <a:ln/>
        </p:spPr>
        <p:txBody>
          <a:bodyPr wrap="square" lIns="0" tIns="0" rIns="0" bIns="0" rtlCol="0" anchor="ctr"/>
          <a:lstStyle/>
          <a:p>
            <a:pPr algn="ctr" indent="0" marL="0">
              <a:buNone/>
            </a:pPr>
            <a:r>
              <a:rPr lang="en-US" sz="2800" i="1" dirty="0">
                <a:solidFill>
                  <a:srgbClr val="F1F5F9"/>
                </a:solidFill>
                <a:latin typeface="Calibri" pitchFamily="34" charset="0"/>
                <a:ea typeface="Calibri" pitchFamily="34" charset="-122"/>
                <a:cs typeface="Calibri" pitchFamily="34" charset="-120"/>
              </a:rPr>
              <a:t>¿Preguntas?</a:t>
            </a:r>
            <a:endParaRPr lang="en-US" sz="2800" dirty="0"/>
          </a:p>
        </p:txBody>
      </p:sp>
      <p:sp>
        <p:nvSpPr>
          <p:cNvPr id="6" name="Shape 4"/>
          <p:cNvSpPr/>
          <p:nvPr/>
        </p:nvSpPr>
        <p:spPr>
          <a:xfrm>
            <a:off x="1874520" y="4937760"/>
            <a:ext cx="91440" cy="91440"/>
          </a:xfrm>
          <a:prstGeom prst="ellipse">
            <a:avLst/>
          </a:prstGeom>
          <a:solidFill>
            <a:srgbClr val="00FF87"/>
          </a:solidFill>
          <a:ln/>
        </p:spPr>
      </p:sp>
      <p:sp>
        <p:nvSpPr>
          <p:cNvPr id="7" name="Text 5"/>
          <p:cNvSpPr/>
          <p:nvPr/>
        </p:nvSpPr>
        <p:spPr>
          <a:xfrm>
            <a:off x="548640" y="5120640"/>
            <a:ext cx="2743200" cy="365760"/>
          </a:xfrm>
          <a:prstGeom prst="rect">
            <a:avLst/>
          </a:prstGeom>
          <a:noFill/>
          <a:ln/>
        </p:spPr>
        <p:txBody>
          <a:bodyPr wrap="square" lIns="0" tIns="0" rIns="0" bIns="0" rtlCol="0" anchor="ctr"/>
          <a:lstStyle/>
          <a:p>
            <a:pPr algn="ctr" indent="0" marL="0">
              <a:buNone/>
            </a:pPr>
            <a:r>
              <a:rPr lang="en-US" sz="1400" b="1" dirty="0">
                <a:solidFill>
                  <a:srgbClr val="F1F5F9"/>
                </a:solidFill>
                <a:latin typeface="Calibri" pitchFamily="34" charset="0"/>
                <a:ea typeface="Calibri" pitchFamily="34" charset="-122"/>
                <a:cs typeface="Calibri" pitchFamily="34" charset="-120"/>
              </a:rPr>
              <a:t>Sergio Ripoll</a:t>
            </a:r>
            <a:endParaRPr lang="en-US" sz="1400" dirty="0"/>
          </a:p>
        </p:txBody>
      </p:sp>
      <p:sp>
        <p:nvSpPr>
          <p:cNvPr id="8" name="Shape 6"/>
          <p:cNvSpPr/>
          <p:nvPr/>
        </p:nvSpPr>
        <p:spPr>
          <a:xfrm>
            <a:off x="4686300" y="4937760"/>
            <a:ext cx="91440" cy="91440"/>
          </a:xfrm>
          <a:prstGeom prst="ellipse">
            <a:avLst/>
          </a:prstGeom>
          <a:solidFill>
            <a:srgbClr val="00FF87"/>
          </a:solidFill>
          <a:ln/>
        </p:spPr>
      </p:sp>
      <p:sp>
        <p:nvSpPr>
          <p:cNvPr id="9" name="Text 7"/>
          <p:cNvSpPr/>
          <p:nvPr/>
        </p:nvSpPr>
        <p:spPr>
          <a:xfrm>
            <a:off x="3360420" y="5120640"/>
            <a:ext cx="2743200" cy="365760"/>
          </a:xfrm>
          <a:prstGeom prst="rect">
            <a:avLst/>
          </a:prstGeom>
          <a:noFill/>
          <a:ln/>
        </p:spPr>
        <p:txBody>
          <a:bodyPr wrap="square" lIns="0" tIns="0" rIns="0" bIns="0" rtlCol="0" anchor="ctr"/>
          <a:lstStyle/>
          <a:p>
            <a:pPr algn="ctr" indent="0" marL="0">
              <a:buNone/>
            </a:pPr>
            <a:r>
              <a:rPr lang="en-US" sz="1400" b="1" dirty="0">
                <a:solidFill>
                  <a:srgbClr val="F1F5F9"/>
                </a:solidFill>
                <a:latin typeface="Calibri" pitchFamily="34" charset="0"/>
                <a:ea typeface="Calibri" pitchFamily="34" charset="-122"/>
                <a:cs typeface="Calibri" pitchFamily="34" charset="-120"/>
              </a:rPr>
              <a:t>Carlos Clariana</a:t>
            </a:r>
            <a:endParaRPr lang="en-US" sz="1400" dirty="0"/>
          </a:p>
        </p:txBody>
      </p:sp>
      <p:sp>
        <p:nvSpPr>
          <p:cNvPr id="10" name="Shape 8"/>
          <p:cNvSpPr/>
          <p:nvPr/>
        </p:nvSpPr>
        <p:spPr>
          <a:xfrm>
            <a:off x="7498080" y="4937760"/>
            <a:ext cx="91440" cy="91440"/>
          </a:xfrm>
          <a:prstGeom prst="ellipse">
            <a:avLst/>
          </a:prstGeom>
          <a:solidFill>
            <a:srgbClr val="00FF87"/>
          </a:solidFill>
          <a:ln/>
        </p:spPr>
      </p:sp>
      <p:sp>
        <p:nvSpPr>
          <p:cNvPr id="11" name="Text 9"/>
          <p:cNvSpPr/>
          <p:nvPr/>
        </p:nvSpPr>
        <p:spPr>
          <a:xfrm>
            <a:off x="6172200" y="5120640"/>
            <a:ext cx="2743200" cy="365760"/>
          </a:xfrm>
          <a:prstGeom prst="rect">
            <a:avLst/>
          </a:prstGeom>
          <a:noFill/>
          <a:ln/>
        </p:spPr>
        <p:txBody>
          <a:bodyPr wrap="square" lIns="0" tIns="0" rIns="0" bIns="0" rtlCol="0" anchor="ctr"/>
          <a:lstStyle/>
          <a:p>
            <a:pPr algn="ctr" indent="0" marL="0">
              <a:buNone/>
            </a:pPr>
            <a:r>
              <a:rPr lang="en-US" sz="1400" b="1" dirty="0">
                <a:solidFill>
                  <a:srgbClr val="F1F5F9"/>
                </a:solidFill>
                <a:latin typeface="Calibri" pitchFamily="34" charset="0"/>
                <a:ea typeface="Calibri" pitchFamily="34" charset="-122"/>
                <a:cs typeface="Calibri" pitchFamily="34" charset="-120"/>
              </a:rPr>
              <a:t>Marc Forés</a:t>
            </a:r>
            <a:endParaRPr lang="en-US" sz="1400" dirty="0"/>
          </a:p>
        </p:txBody>
      </p:sp>
      <p:sp>
        <p:nvSpPr>
          <p:cNvPr id="12" name="Shape 10"/>
          <p:cNvSpPr/>
          <p:nvPr/>
        </p:nvSpPr>
        <p:spPr>
          <a:xfrm>
            <a:off x="10309860" y="4937760"/>
            <a:ext cx="91440" cy="91440"/>
          </a:xfrm>
          <a:prstGeom prst="ellipse">
            <a:avLst/>
          </a:prstGeom>
          <a:solidFill>
            <a:srgbClr val="00FF87"/>
          </a:solidFill>
          <a:ln/>
        </p:spPr>
      </p:sp>
      <p:sp>
        <p:nvSpPr>
          <p:cNvPr id="13" name="Text 11"/>
          <p:cNvSpPr/>
          <p:nvPr/>
        </p:nvSpPr>
        <p:spPr>
          <a:xfrm>
            <a:off x="8983980" y="5120640"/>
            <a:ext cx="2743200" cy="365760"/>
          </a:xfrm>
          <a:prstGeom prst="rect">
            <a:avLst/>
          </a:prstGeom>
          <a:noFill/>
          <a:ln/>
        </p:spPr>
        <p:txBody>
          <a:bodyPr wrap="square" lIns="0" tIns="0" rIns="0" bIns="0" rtlCol="0" anchor="ctr"/>
          <a:lstStyle/>
          <a:p>
            <a:pPr algn="ctr" indent="0" marL="0">
              <a:buNone/>
            </a:pPr>
            <a:r>
              <a:rPr lang="en-US" sz="1400" b="1" dirty="0">
                <a:solidFill>
                  <a:srgbClr val="F1F5F9"/>
                </a:solidFill>
                <a:latin typeface="Calibri" pitchFamily="34" charset="0"/>
                <a:ea typeface="Calibri" pitchFamily="34" charset="-122"/>
                <a:cs typeface="Calibri" pitchFamily="34" charset="-120"/>
              </a:rPr>
              <a:t>Carlos Molina</a:t>
            </a:r>
            <a:endParaRPr lang="en-US" sz="1400" dirty="0"/>
          </a:p>
        </p:txBody>
      </p:sp>
      <p:sp>
        <p:nvSpPr>
          <p:cNvPr id="14" name="Text 12"/>
          <p:cNvSpPr/>
          <p:nvPr/>
        </p:nvSpPr>
        <p:spPr>
          <a:xfrm>
            <a:off x="548640" y="6126480"/>
            <a:ext cx="11064240" cy="274320"/>
          </a:xfrm>
          <a:prstGeom prst="rect">
            <a:avLst/>
          </a:prstGeom>
          <a:noFill/>
          <a:ln/>
        </p:spPr>
        <p:txBody>
          <a:bodyPr wrap="square" lIns="0" tIns="0" rIns="0" bIns="0"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Universidad Politécnica de Valencia  ·  Imagen y Vídeo Digital  ·  Curso 2025–2026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Seguimiento de Jugadores con Visión Artificial</dc:title>
  <dc:subject>PptxGenJS Presentation</dc:subject>
  <dc:creator>Sergio Ripoll, Carlos Clariana, Marc Forés, Carlos Molina</dc:creator>
  <cp:lastModifiedBy>Sergio Ripoll, Carlos Clariana, Marc Forés, Carlos Molina</cp:lastModifiedBy>
  <cp:revision>1</cp:revision>
  <dcterms:created xsi:type="dcterms:W3CDTF">2026-05-22T09:42:42Z</dcterms:created>
  <dcterms:modified xsi:type="dcterms:W3CDTF">2026-05-22T09:42:42Z</dcterms:modified>
</cp:coreProperties>
</file>